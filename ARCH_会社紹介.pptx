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9CA3AF"/>
                </a:solidFill>
                <a:latin typeface="Arial Black"/>
              </a:defRPr>
            </a:pPr>
            <a:r>
              <a:t>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アーチ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会社紹介・サービスのご案内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AF"/>
                </a:solidFill>
                <a:latin typeface="Calibri"/>
              </a:defRPr>
            </a:pPr>
            <a:r>
              <a:t>医療・介護事業の「現場力」と「収益力」を最大化する。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836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合同会社ARCH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0972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[ ロゴ画像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6534"/>
                </a:solidFill>
                <a:latin typeface="Arial Black"/>
              </a:defRPr>
            </a:pPr>
            <a:r>
              <a:t>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11827"/>
                </a:solidFill>
                <a:latin typeface="Calibri"/>
              </a:defRPr>
            </a:pPr>
            <a:r>
              <a:t>ARCHについて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会社概要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6534"/>
                </a:solidFill>
                <a:latin typeface="Calibri"/>
              </a:defRPr>
            </a:pPr>
            <a:r>
              <a:t>会社名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46888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合同会社ARCH（アーチ）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7180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6534"/>
                </a:solidFill>
                <a:latin typeface="Calibri"/>
              </a:defRPr>
            </a:pPr>
            <a:r>
              <a:t>代表者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97180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鈴木 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7472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6534"/>
                </a:solidFill>
                <a:latin typeface="Calibri"/>
              </a:defRPr>
            </a:pPr>
            <a:r>
              <a:t>所在地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47472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[ 所在地を入力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977639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6534"/>
                </a:solidFill>
                <a:latin typeface="Calibri"/>
              </a:defRPr>
            </a:pPr>
            <a:r>
              <a:t>設立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977639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[ 設立年月を入力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80559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6534"/>
                </a:solidFill>
                <a:latin typeface="Calibri"/>
              </a:defRPr>
            </a:pPr>
            <a:r>
              <a:t>事業内容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480559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訪問歯科コンサルティング</a:t>
            </a:r>
            <a:br/>
            <a:r>
              <a:t>医療介護特化型営業コンサルティング</a:t>
            </a:r>
            <a:br/>
            <a:r>
              <a:t>老人ホーム紹介事業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983479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66534"/>
                </a:solidFill>
                <a:latin typeface="Calibri"/>
              </a:defRPr>
            </a:pPr>
            <a:r>
              <a:t>URL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983479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74151"/>
                </a:solidFill>
                <a:latin typeface="Calibri"/>
              </a:defRPr>
            </a:pPr>
            <a:r>
              <a:t>https://www.arch-yh.com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18288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ミッション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468880"/>
            <a:ext cx="43891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医療・介護の現場で働く方々が、</a:t>
            </a:r>
            <a:br/>
            <a:r>
              <a:t>自信を持って事業を成長させられるよう</a:t>
            </a:r>
            <a:br/>
            <a:r>
              <a:t>伴走する。</a:t>
            </a:r>
            <a:br/>
            <a:br/>
            <a:r>
              <a:t>現場力と収益力の両立を、</a:t>
            </a:r>
            <a:br/>
            <a:r>
              <a:t>泥臭い現場主義で実現します。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6534"/>
                </a:solidFill>
                <a:latin typeface="Arial Black"/>
              </a:defRPr>
            </a:pPr>
            <a: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11827"/>
                </a:solidFill>
                <a:latin typeface="Calibri"/>
              </a:defRPr>
            </a:pPr>
            <a:r>
              <a:t>事業内容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10972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66534"/>
                </a:solidFill>
                <a:latin typeface="Calibri"/>
              </a:defRPr>
            </a:pPr>
            <a:r>
              <a:t>主事業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訪問歯科</a:t>
            </a:r>
            <a:br/>
            <a:r>
              <a:t>コンサルティング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未経験からの立ち上げから</a:t>
            </a:r>
            <a:br/>
            <a:r>
              <a:t>既存事業のV字回復まで</a:t>
            </a:r>
            <a:br/>
            <a:r>
              <a:t>強力に牽引します。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645920"/>
            <a:ext cx="3383280" cy="10972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0116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5803D"/>
                </a:solidFill>
                <a:latin typeface="Calibri"/>
              </a:defRPr>
            </a:pPr>
            <a:r>
              <a:t>事業②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377440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医療介護特化型</a:t>
            </a:r>
            <a:br/>
            <a:r>
              <a:t>営業コンサルティング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47472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戦略立案から同行営業での</a:t>
            </a:r>
            <a:br/>
            <a:r>
              <a:t>実地指導まで行います。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645920"/>
            <a:ext cx="3383280" cy="109728"/>
          </a:xfrm>
          <a:prstGeom prst="rect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0116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7A90"/>
                </a:solidFill>
                <a:latin typeface="Calibri"/>
              </a:defRPr>
            </a:pPr>
            <a:r>
              <a:t>事業③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377440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老人ホーム</a:t>
            </a:r>
            <a:br/>
            <a:r>
              <a:t>紹介事業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47472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完全中立なマッチングで</a:t>
            </a:r>
            <a:br/>
            <a:r>
              <a:t>患者様に最適な施設を</a:t>
            </a:r>
            <a:br/>
            <a:r>
              <a:t>ご紹介します。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6534"/>
                </a:solidFill>
                <a:latin typeface="Arial Black"/>
              </a:defRPr>
            </a:pPr>
            <a:r>
              <a:t>MAIN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11827"/>
                </a:solidFill>
                <a:latin typeface="Calibri"/>
              </a:defRPr>
            </a:pPr>
            <a:r>
              <a:t>訪問歯科コンサルティング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20240"/>
            <a:ext cx="548640" cy="54864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92024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独自アプリの提供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現場の事務作業やルート調整の</a:t>
            </a:r>
            <a:br/>
            <a:r>
              <a:t>工数を激減させる</a:t>
            </a:r>
            <a:br/>
            <a:r>
              <a:t>ARCH専用システム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64592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79" y="1920240"/>
            <a:ext cx="548640" cy="54864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92024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医院ネットワーク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65176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取引先医院様同士をつなぐ</a:t>
            </a:r>
            <a:br/>
            <a:r>
              <a:t>情報共有・意見交換</a:t>
            </a:r>
            <a:br/>
            <a:r>
              <a:t>コミュニティ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03920" y="1920240"/>
            <a:ext cx="548640" cy="54864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92024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全方位サポート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65176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導入・営業・運営・算定</a:t>
            </a:r>
            <a:br/>
            <a:r>
              <a:t>BPO・経営改善まで</a:t>
            </a:r>
            <a:br/>
            <a:r>
              <a:t>ワンストップ対応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[ この後のスライドで詳細を肉付け予定 ]</a:t>
            </a:r>
            <a:br/>
            <a:br/>
            <a:r>
              <a:t>・導入実績・成功事例</a:t>
            </a:r>
            <a:br/>
            <a:r>
              <a:t>・サポートの流れ</a:t>
            </a:r>
            <a:br/>
            <a:r>
              <a:t>・他社との違い　など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6534"/>
                </a:solidFill>
                <a:latin typeface="Arial Black"/>
              </a:defRPr>
            </a:pPr>
            <a:r>
              <a:t>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11827"/>
                </a:solidFill>
                <a:latin typeface="Calibri"/>
              </a:defRPr>
            </a:pPr>
            <a:r>
              <a:t>料金プラン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ライトプラン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まずは始めたい方に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11827"/>
                </a:solidFill>
                <a:latin typeface="Calibri"/>
              </a:defRPr>
            </a:pPr>
            <a:r>
              <a:t>10万円/月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✓  訪問歯科の基本サポート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✓  ARCH独自アプリ使用可能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645920"/>
            <a:ext cx="3383280" cy="4572000"/>
          </a:xfrm>
          <a:prstGeom prst="roundRect">
            <a:avLst/>
          </a:prstGeom>
          <a:solidFill>
            <a:srgbClr val="16653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18288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スタンダードプラン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2860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成長を加速させたい方に（一番人気）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7432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CC15"/>
                </a:solidFill>
                <a:latin typeface="Calibri"/>
              </a:defRPr>
            </a:pPr>
            <a:r>
              <a:t>30万円/月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34747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✓  ライトプランの全内容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38404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✓  月2回 Web/対面ミーティング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42062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✓  ARCH独自アプリ使用可能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645920"/>
            <a:ext cx="3383280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8288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プレミアムプラン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2860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圧倒的な成長を実現したい方に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7432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11827"/>
                </a:solidFill>
                <a:latin typeface="Calibri"/>
              </a:defRPr>
            </a:pPr>
            <a:r>
              <a:t>50万円/月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4747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✓  スタンダードプランの全内容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8404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✓  週1回 Web/対面ミーティング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2062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✓  医院オリジナルアプリ開発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※ 料金はすべて税別表示です。詳細はお問い合わせください。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6534"/>
                </a:solidFill>
                <a:latin typeface="Arial Black"/>
              </a:defRPr>
            </a:pPr>
            <a:r>
              <a:t>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11827"/>
                </a:solidFill>
                <a:latin typeface="Calibri"/>
              </a:defRPr>
            </a:pPr>
            <a:r>
              <a:t>代表メッセージ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00400" cy="4114800"/>
          </a:xfrm>
          <a:prstGeom prst="round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4B5563"/>
                </a:solidFill>
                <a:latin typeface="Calibri"/>
              </a:defRPr>
            </a:pPr>
            <a:r>
              <a:t>[ 代表写真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685800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374151"/>
                </a:solidFill>
                <a:latin typeface="Calibri"/>
              </a:defRPr>
            </a:pPr>
            <a:r>
              <a:t>私は元小学校教諭として「人の成長に寄り添う」仕事をしてきました。</a:t>
            </a:r>
            <a:br/>
            <a:br/>
            <a:r>
              <a:t>その経験を活かし、医療・介護の現場で働く方々が、自信を持って事業を成長させられるよう伴走したい──そんな想いでARCHを立ち上げました。</a:t>
            </a:r>
            <a:br/>
            <a:br/>
            <a:r>
              <a:t>訪問歯科という成長市場において、現場力と収益力の両立は決して簡単ではありません。だからこそ、私たちは机上の空論ではなく、泥臭い現場主義で結果を出し続けます。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50292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合同会社ARCH 代表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3949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11827"/>
                </a:solidFill>
                <a:latin typeface="Calibri"/>
              </a:defRPr>
            </a:pPr>
            <a:r>
              <a:t>鈴木 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94360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元小学校教諭 → 訪問歯科業界へ転身 → 合同会社ARCH設立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66534"/>
                </a:solidFill>
                <a:latin typeface="Arial Black"/>
              </a:defRPr>
            </a:pPr>
            <a:r>
              <a:t>WHY 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11827"/>
                </a:solidFill>
                <a:latin typeface="Calibri"/>
              </a:defRPr>
            </a:pPr>
            <a:r>
              <a:t>ARCHが選ばれる理由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20240"/>
            <a:ext cx="548640" cy="54864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920240"/>
            <a:ext cx="3840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現場主義の</a:t>
            </a:r>
            <a:br/>
            <a:r>
              <a:t>圧倒的ノウハウ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834640"/>
            <a:ext cx="3840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机上の空論ではなく、実際の現場経験に基づいたコンサルティング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0" y="1920240"/>
            <a:ext cx="548640" cy="54864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920240"/>
            <a:ext cx="3840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元教諭ならではの</a:t>
            </a:r>
            <a:br/>
            <a:r>
              <a:t>人材育成力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834640"/>
            <a:ext cx="3840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営業担当者の自己肯定感を高め、行動変容を促すマインドセット支援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4297680"/>
            <a:ext cx="548640" cy="54864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434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297680"/>
            <a:ext cx="3840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独自システムで</a:t>
            </a:r>
            <a:br/>
            <a:r>
              <a:t>業務効率化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212080"/>
            <a:ext cx="3840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ARCH専用アプリで事務作業・ルート調整の工数を大幅削減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02336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75120" y="4297680"/>
            <a:ext cx="548640" cy="54864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3434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297680"/>
            <a:ext cx="3840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ワンストップの</a:t>
            </a:r>
            <a:br/>
            <a:r>
              <a:t>全方位サポート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5212080"/>
            <a:ext cx="3840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導入・営業・運営・算定・BPO・経営改善まで一気通貫で対応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お問い合わせ・無料相談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18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BBF7D0"/>
                </a:solidFill>
                <a:latin typeface="Calibri"/>
              </a:defRPr>
            </a:pPr>
            <a:r>
              <a:t>訪問歯科の立ち上げ、既存事業の改善、営業力強化など、</a:t>
            </a:r>
            <a:br/>
            <a:r>
              <a:t>どんなご相談でもお気軽にお問い合わせください。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931920"/>
            <a:ext cx="5760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41148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11827"/>
                </a:solidFill>
                <a:latin typeface="Calibri"/>
              </a:defRPr>
            </a:pPr>
            <a:r>
              <a:t>合同会社ARCH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5720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B5563"/>
                </a:solidFill>
                <a:latin typeface="Calibri"/>
              </a:defRPr>
            </a:pPr>
            <a:r>
              <a:t>URL: https://www.arch-yh.com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93776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B5563"/>
                </a:solidFill>
                <a:latin typeface="Calibri"/>
              </a:defRPr>
            </a:pPr>
            <a:r>
              <a:t>Email: [ メールアドレスを入力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3035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B5563"/>
                </a:solidFill>
                <a:latin typeface="Calibri"/>
              </a:defRPr>
            </a:pPr>
            <a:r>
              <a:t>TEL: [ 電話番号を入力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EE7B7"/>
                </a:solidFill>
                <a:latin typeface="Calibri"/>
              </a:defRPr>
            </a:pPr>
            <a:r>
              <a:t>© 合同会社ARCH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