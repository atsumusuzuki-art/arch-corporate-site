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52B788"/>
          </a:solidFill>
          <a:ln/>
        </p:spPr>
      </p:sp>
      <p:sp>
        <p:nvSpPr>
          <p:cNvPr id="3" name="Text 1"/>
          <p:cNvSpPr/>
          <p:nvPr/>
        </p:nvSpPr>
        <p:spPr>
          <a:xfrm>
            <a:off x="731520" y="548640"/>
            <a:ext cx="7315200" cy="640080"/>
          </a:xfrm>
          <a:prstGeom prst="rect">
            <a:avLst/>
          </a:prstGeom>
          <a:noFill/>
          <a:ln/>
        </p:spPr>
        <p:txBody>
          <a:bodyPr wrap="square" lIns="0" tIns="0" rIns="0" bIns="0" rtlCol="0" anchor="ctr"/>
          <a:lstStyle/>
          <a:p>
            <a:pPr indent="0" marL="0">
              <a:buNone/>
            </a:pPr>
            <a:r>
              <a:rPr lang="en-US" sz="1800" b="1" spc="800" kern="0" dirty="0">
                <a:solidFill>
                  <a:srgbClr val="52B788"/>
                </a:solidFill>
                <a:latin typeface="Arial" pitchFamily="34" charset="0"/>
                <a:ea typeface="Arial" pitchFamily="34" charset="-122"/>
                <a:cs typeface="Arial" pitchFamily="34" charset="-120"/>
              </a:rPr>
              <a:t>ARCH</a:t>
            </a:r>
            <a:endParaRPr lang="en-US" sz="1800" dirty="0"/>
          </a:p>
        </p:txBody>
      </p:sp>
      <p:sp>
        <p:nvSpPr>
          <p:cNvPr id="4" name="Text 2"/>
          <p:cNvSpPr/>
          <p:nvPr/>
        </p:nvSpPr>
        <p:spPr>
          <a:xfrm>
            <a:off x="731520" y="1188720"/>
            <a:ext cx="4754880" cy="12801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訪問歯科事業の</a:t>
            </a:r>
            <a:endParaRPr lang="en-US" sz="3600" dirty="0"/>
          </a:p>
          <a:p>
            <a:pPr indent="0" marL="0">
              <a:buNone/>
            </a:pPr>
            <a:r>
              <a:rPr lang="en-US" sz="3600" b="1" dirty="0">
                <a:solidFill>
                  <a:srgbClr val="FFFFFF"/>
                </a:solidFill>
                <a:latin typeface="Arial" pitchFamily="34" charset="0"/>
                <a:ea typeface="Arial" pitchFamily="34" charset="-122"/>
                <a:cs typeface="Arial" pitchFamily="34" charset="-120"/>
              </a:rPr>
              <a:t>成長パートナー</a:t>
            </a:r>
            <a:endParaRPr lang="en-US" sz="3600" dirty="0"/>
          </a:p>
        </p:txBody>
      </p:sp>
      <p:sp>
        <p:nvSpPr>
          <p:cNvPr id="5" name="Text 3"/>
          <p:cNvSpPr/>
          <p:nvPr/>
        </p:nvSpPr>
        <p:spPr>
          <a:xfrm>
            <a:off x="731520" y="2560320"/>
            <a:ext cx="4754880" cy="731520"/>
          </a:xfrm>
          <a:prstGeom prst="rect">
            <a:avLst/>
          </a:prstGeom>
          <a:noFill/>
          <a:ln/>
        </p:spPr>
        <p:txBody>
          <a:bodyPr wrap="square" lIns="0" tIns="0" rIns="0" bIns="0" rtlCol="0" anchor="ctr"/>
          <a:lstStyle/>
          <a:p>
            <a:pPr indent="0" marL="0">
              <a:buNone/>
            </a:pPr>
            <a:r>
              <a:rPr lang="en-US" sz="1600" dirty="0">
                <a:solidFill>
                  <a:srgbClr val="B7E4C7"/>
                </a:solidFill>
                <a:latin typeface="Arial" pitchFamily="34" charset="0"/>
                <a:ea typeface="Arial" pitchFamily="34" charset="-122"/>
                <a:cs typeface="Arial" pitchFamily="34" charset="-120"/>
              </a:rPr>
              <a:t>現場力と収益力の両立を、</a:t>
            </a:r>
            <a:endParaRPr lang="en-US" sz="1600" dirty="0"/>
          </a:p>
          <a:p>
            <a:pPr indent="0" marL="0">
              <a:buNone/>
            </a:pPr>
            <a:r>
              <a:rPr lang="en-US" sz="1600" dirty="0">
                <a:solidFill>
                  <a:srgbClr val="B7E4C7"/>
                </a:solidFill>
                <a:latin typeface="Arial" pitchFamily="34" charset="0"/>
                <a:ea typeface="Arial" pitchFamily="34" charset="-122"/>
                <a:cs typeface="Arial" pitchFamily="34" charset="-120"/>
              </a:rPr>
              <a:t>泥臭い現場主義で実現する。</a:t>
            </a:r>
            <a:endParaRPr lang="en-US" sz="1600" dirty="0"/>
          </a:p>
        </p:txBody>
      </p:sp>
      <p:sp>
        <p:nvSpPr>
          <p:cNvPr id="6" name="Shape 4"/>
          <p:cNvSpPr/>
          <p:nvPr/>
        </p:nvSpPr>
        <p:spPr>
          <a:xfrm>
            <a:off x="731520" y="3383280"/>
            <a:ext cx="2286000" cy="0"/>
          </a:xfrm>
          <a:prstGeom prst="line">
            <a:avLst/>
          </a:prstGeom>
          <a:noFill/>
          <a:ln w="25400">
            <a:solidFill>
              <a:srgbClr val="52B788"/>
            </a:solidFill>
            <a:prstDash val="solid"/>
          </a:ln>
        </p:spPr>
      </p:sp>
      <p:sp>
        <p:nvSpPr>
          <p:cNvPr id="7" name="Text 5"/>
          <p:cNvSpPr/>
          <p:nvPr/>
        </p:nvSpPr>
        <p:spPr>
          <a:xfrm>
            <a:off x="731520" y="3657600"/>
            <a:ext cx="3657600" cy="36576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合同会社ARCH</a:t>
            </a:r>
            <a:endParaRPr lang="en-US" sz="1400" dirty="0"/>
          </a:p>
        </p:txBody>
      </p:sp>
      <p:sp>
        <p:nvSpPr>
          <p:cNvPr id="8" name="Text 6"/>
          <p:cNvSpPr/>
          <p:nvPr/>
        </p:nvSpPr>
        <p:spPr>
          <a:xfrm>
            <a:off x="731520" y="4023360"/>
            <a:ext cx="3657600" cy="365760"/>
          </a:xfrm>
          <a:prstGeom prst="rect">
            <a:avLst/>
          </a:prstGeom>
          <a:noFill/>
          <a:ln/>
        </p:spPr>
        <p:txBody>
          <a:bodyPr wrap="square" lIns="0" tIns="0" rIns="0" bIns="0" rtlCol="0" anchor="ctr"/>
          <a:lstStyle/>
          <a:p>
            <a:pPr indent="0" marL="0">
              <a:buNone/>
            </a:pPr>
            <a:r>
              <a:rPr lang="en-US" sz="1100" dirty="0">
                <a:solidFill>
                  <a:srgbClr val="9CA3AF"/>
                </a:solidFill>
                <a:latin typeface="Arial" pitchFamily="34" charset="0"/>
                <a:ea typeface="Arial" pitchFamily="34" charset="-122"/>
                <a:cs typeface="Arial" pitchFamily="34" charset="-120"/>
              </a:rPr>
              <a:t>https://www.arch-yh.com</a:t>
            </a:r>
            <a:endParaRPr lang="en-US" sz="1100" dirty="0"/>
          </a:p>
        </p:txBody>
      </p:sp>
      <p:sp>
        <p:nvSpPr>
          <p:cNvPr id="9" name="Shape 7"/>
          <p:cNvSpPr/>
          <p:nvPr/>
        </p:nvSpPr>
        <p:spPr>
          <a:xfrm>
            <a:off x="5943600" y="1097280"/>
            <a:ext cx="2743200" cy="2926080"/>
          </a:xfrm>
          <a:prstGeom prst="rect">
            <a:avLst/>
          </a:prstGeom>
          <a:solidFill>
            <a:srgbClr val="2D6A4F"/>
          </a:solidFill>
          <a:ln/>
          <a:effectLst>
            <a:outerShdw sx="100000" sy="100000" kx="0" ky="0" algn="bl" rotWithShape="0" blurRad="50800" dist="19050" dir="8100000">
              <a:srgbClr val="000000">
                <a:alpha val="10000"/>
              </a:srgbClr>
            </a:outerShdw>
          </a:effectLst>
        </p:spPr>
      </p:sp>
      <p:sp>
        <p:nvSpPr>
          <p:cNvPr id="10" name="Text 8"/>
          <p:cNvSpPr/>
          <p:nvPr/>
        </p:nvSpPr>
        <p:spPr>
          <a:xfrm>
            <a:off x="5943600" y="1371600"/>
            <a:ext cx="2743200" cy="365760"/>
          </a:xfrm>
          <a:prstGeom prst="rect">
            <a:avLst/>
          </a:prstGeom>
          <a:noFill/>
          <a:ln/>
        </p:spPr>
        <p:txBody>
          <a:bodyPr wrap="square" lIns="0" tIns="0" rIns="0" bIns="0" rtlCol="0" anchor="ctr"/>
          <a:lstStyle/>
          <a:p>
            <a:pPr algn="ctr" indent="0" marL="0">
              <a:buNone/>
            </a:pPr>
            <a:r>
              <a:rPr lang="en-US" sz="1400" dirty="0">
                <a:solidFill>
                  <a:srgbClr val="B7E4C7"/>
                </a:solidFill>
                <a:latin typeface="Arial" pitchFamily="34" charset="0"/>
                <a:ea typeface="Arial" pitchFamily="34" charset="-122"/>
                <a:cs typeface="Arial" pitchFamily="34" charset="-120"/>
              </a:rPr>
              <a:t>歯科診療医療費</a:t>
            </a:r>
            <a:endParaRPr lang="en-US" sz="1400" dirty="0"/>
          </a:p>
        </p:txBody>
      </p:sp>
      <p:sp>
        <p:nvSpPr>
          <p:cNvPr id="11" name="Text 9"/>
          <p:cNvSpPr/>
          <p:nvPr/>
        </p:nvSpPr>
        <p:spPr>
          <a:xfrm>
            <a:off x="5943600" y="1737360"/>
            <a:ext cx="2743200" cy="365760"/>
          </a:xfrm>
          <a:prstGeom prst="rect">
            <a:avLst/>
          </a:prstGeom>
          <a:noFill/>
          <a:ln/>
        </p:spPr>
        <p:txBody>
          <a:bodyPr wrap="square" lIns="0" tIns="0" rIns="0" bIns="0" rtlCol="0" anchor="ctr"/>
          <a:lstStyle/>
          <a:p>
            <a:pPr algn="ctr" indent="0" marL="0">
              <a:buNone/>
            </a:pPr>
            <a:r>
              <a:rPr lang="en-US" sz="1200" dirty="0">
                <a:solidFill>
                  <a:srgbClr val="B7E4C7"/>
                </a:solidFill>
                <a:latin typeface="Arial" pitchFamily="34" charset="0"/>
                <a:ea typeface="Arial" pitchFamily="34" charset="-122"/>
                <a:cs typeface="Arial" pitchFamily="34" charset="-120"/>
              </a:rPr>
              <a:t>（2023年度）</a:t>
            </a:r>
            <a:endParaRPr lang="en-US" sz="1200" dirty="0"/>
          </a:p>
        </p:txBody>
      </p:sp>
      <p:sp>
        <p:nvSpPr>
          <p:cNvPr id="12" name="Text 10"/>
          <p:cNvSpPr/>
          <p:nvPr/>
        </p:nvSpPr>
        <p:spPr>
          <a:xfrm>
            <a:off x="5943600" y="2194560"/>
            <a:ext cx="274320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3.3兆円</a:t>
            </a:r>
            <a:endParaRPr lang="en-US" sz="3600" dirty="0"/>
          </a:p>
        </p:txBody>
      </p:sp>
      <p:sp>
        <p:nvSpPr>
          <p:cNvPr id="13" name="Text 11"/>
          <p:cNvSpPr/>
          <p:nvPr/>
        </p:nvSpPr>
        <p:spPr>
          <a:xfrm>
            <a:off x="5943600" y="3017520"/>
            <a:ext cx="2743200" cy="365760"/>
          </a:xfrm>
          <a:prstGeom prst="rect">
            <a:avLst/>
          </a:prstGeom>
          <a:noFill/>
          <a:ln/>
        </p:spPr>
        <p:txBody>
          <a:bodyPr wrap="square" lIns="0" tIns="0" rIns="0" bIns="0" rtlCol="0" anchor="ctr"/>
          <a:lstStyle/>
          <a:p>
            <a:pPr algn="ctr" indent="0" marL="0">
              <a:buNone/>
            </a:pPr>
            <a:r>
              <a:rPr lang="en-US" sz="1200" dirty="0">
                <a:solidFill>
                  <a:srgbClr val="B7E4C7"/>
                </a:solidFill>
                <a:latin typeface="Arial" pitchFamily="34" charset="0"/>
                <a:ea typeface="Arial" pitchFamily="34" charset="-122"/>
                <a:cs typeface="Arial" pitchFamily="34" charset="-120"/>
              </a:rPr>
              <a:t>厚生労働省統計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5"/>
        </a:solidFill>
      </p:bgPr>
    </p:bg>
    <p:spTree>
      <p:nvGrpSpPr>
        <p:cNvPr id="1" name=""/>
        <p:cNvGrpSpPr/>
        <p:nvPr/>
      </p:nvGrpSpPr>
      <p:grpSpPr>
        <a:xfrm>
          <a:off x="0" y="0"/>
          <a:ext cx="0" cy="0"/>
          <a:chOff x="0" y="0"/>
          <a:chExt cx="0" cy="0"/>
        </a:xfrm>
      </p:grpSpPr>
      <p:sp>
        <p:nvSpPr>
          <p:cNvPr id="2" name="Text 0"/>
          <p:cNvSpPr/>
          <p:nvPr/>
        </p:nvSpPr>
        <p:spPr>
          <a:xfrm>
            <a:off x="548640" y="274320"/>
            <a:ext cx="2743200" cy="320040"/>
          </a:xfrm>
          <a:prstGeom prst="rect">
            <a:avLst/>
          </a:prstGeom>
          <a:noFill/>
          <a:ln/>
        </p:spPr>
        <p:txBody>
          <a:bodyPr wrap="square" lIns="0" tIns="0" rIns="0" bIns="0" rtlCol="0" anchor="ctr"/>
          <a:lstStyle/>
          <a:p>
            <a:pPr indent="0" marL="0">
              <a:buNone/>
            </a:pPr>
            <a:r>
              <a:rPr lang="en-US" sz="1100" b="1" spc="600" kern="0" dirty="0">
                <a:solidFill>
                  <a:srgbClr val="52B788"/>
                </a:solidFill>
                <a:latin typeface="Arial" pitchFamily="34" charset="0"/>
                <a:ea typeface="Arial" pitchFamily="34" charset="-122"/>
                <a:cs typeface="Arial" pitchFamily="34" charset="-120"/>
              </a:rPr>
              <a:t>MARKET</a:t>
            </a:r>
            <a:endParaRPr lang="en-US" sz="1100" dirty="0"/>
          </a:p>
        </p:txBody>
      </p:sp>
      <p:sp>
        <p:nvSpPr>
          <p:cNvPr id="3" name="Text 1"/>
          <p:cNvSpPr/>
          <p:nvPr/>
        </p:nvSpPr>
        <p:spPr>
          <a:xfrm>
            <a:off x="548640" y="548640"/>
            <a:ext cx="73152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訪問歯科は今、最大の成長市場</a:t>
            </a:r>
            <a:endParaRPr lang="en-US" sz="2600" dirty="0"/>
          </a:p>
        </p:txBody>
      </p:sp>
      <p:sp>
        <p:nvSpPr>
          <p:cNvPr id="4" name="Shape 2"/>
          <p:cNvSpPr/>
          <p:nvPr/>
        </p:nvSpPr>
        <p:spPr>
          <a:xfrm>
            <a:off x="548640" y="1371600"/>
            <a:ext cx="256032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548640" y="1371600"/>
            <a:ext cx="2560320" cy="73152"/>
          </a:xfrm>
          <a:prstGeom prst="rect">
            <a:avLst/>
          </a:prstGeom>
          <a:solidFill>
            <a:srgbClr val="52B788"/>
          </a:solidFill>
          <a:ln/>
        </p:spPr>
      </p:sp>
      <p:sp>
        <p:nvSpPr>
          <p:cNvPr id="6" name="Text 4"/>
          <p:cNvSpPr/>
          <p:nvPr/>
        </p:nvSpPr>
        <p:spPr>
          <a:xfrm>
            <a:off x="548640" y="1645920"/>
            <a:ext cx="2560320" cy="731520"/>
          </a:xfrm>
          <a:prstGeom prst="rect">
            <a:avLst/>
          </a:prstGeom>
          <a:noFill/>
          <a:ln/>
        </p:spPr>
        <p:txBody>
          <a:bodyPr wrap="square" lIns="0" tIns="0" rIns="0" bIns="0" rtlCol="0" anchor="ctr"/>
          <a:lstStyle/>
          <a:p>
            <a:pPr algn="ctr" indent="0" marL="0">
              <a:buNone/>
            </a:pPr>
            <a:r>
              <a:rPr lang="en-US" sz="3600" b="1" dirty="0">
                <a:solidFill>
                  <a:srgbClr val="2D6A4F"/>
                </a:solidFill>
                <a:latin typeface="Arial" pitchFamily="34" charset="0"/>
                <a:ea typeface="Arial" pitchFamily="34" charset="-122"/>
                <a:cs typeface="Arial" pitchFamily="34" charset="-120"/>
              </a:rPr>
              <a:t>10.6%</a:t>
            </a:r>
            <a:endParaRPr lang="en-US" sz="3600" dirty="0"/>
          </a:p>
        </p:txBody>
      </p:sp>
      <p:sp>
        <p:nvSpPr>
          <p:cNvPr id="7" name="Text 5"/>
          <p:cNvSpPr/>
          <p:nvPr/>
        </p:nvSpPr>
        <p:spPr>
          <a:xfrm>
            <a:off x="548640" y="2377440"/>
            <a:ext cx="2560320" cy="365760"/>
          </a:xfrm>
          <a:prstGeom prst="rect">
            <a:avLst/>
          </a:prstGeom>
          <a:noFill/>
          <a:ln/>
        </p:spPr>
        <p:txBody>
          <a:bodyPr wrap="square" lIns="0" tIns="0" rIns="0" bIns="0" rtlCol="0" anchor="ctr"/>
          <a:lstStyle/>
          <a:p>
            <a:pPr algn="ctr" indent="0" marL="0">
              <a:buNone/>
            </a:pPr>
            <a:r>
              <a:rPr lang="en-US" sz="1100" b="1" dirty="0">
                <a:solidFill>
                  <a:srgbClr val="52B788"/>
                </a:solidFill>
                <a:latin typeface="Arial" pitchFamily="34" charset="0"/>
                <a:ea typeface="Arial" pitchFamily="34" charset="-122"/>
                <a:cs typeface="Arial" pitchFamily="34" charset="-120"/>
              </a:rPr>
              <a:t>要介護者への充足率</a:t>
            </a:r>
            <a:endParaRPr lang="en-US" sz="1100" dirty="0"/>
          </a:p>
        </p:txBody>
      </p:sp>
      <p:sp>
        <p:nvSpPr>
          <p:cNvPr id="8" name="Shape 6"/>
          <p:cNvSpPr/>
          <p:nvPr/>
        </p:nvSpPr>
        <p:spPr>
          <a:xfrm>
            <a:off x="1280160" y="2880360"/>
            <a:ext cx="1097280" cy="0"/>
          </a:xfrm>
          <a:prstGeom prst="line">
            <a:avLst/>
          </a:prstGeom>
          <a:noFill/>
          <a:ln w="12700">
            <a:solidFill>
              <a:srgbClr val="B7E4C7"/>
            </a:solidFill>
            <a:prstDash val="solid"/>
          </a:ln>
        </p:spPr>
      </p:sp>
      <p:sp>
        <p:nvSpPr>
          <p:cNvPr id="9" name="Text 7"/>
          <p:cNvSpPr/>
          <p:nvPr/>
        </p:nvSpPr>
        <p:spPr>
          <a:xfrm>
            <a:off x="822960" y="3017520"/>
            <a:ext cx="2011680" cy="10972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訪問歯科を必要とする高齢者のうち、実際に受けているのはわずか1割。巨大な潜在市場です。</a:t>
            </a:r>
            <a:endParaRPr lang="en-US" sz="1100" dirty="0"/>
          </a:p>
        </p:txBody>
      </p:sp>
      <p:sp>
        <p:nvSpPr>
          <p:cNvPr id="10" name="Shape 8"/>
          <p:cNvSpPr/>
          <p:nvPr/>
        </p:nvSpPr>
        <p:spPr>
          <a:xfrm>
            <a:off x="3383280" y="1371600"/>
            <a:ext cx="256032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383280" y="1371600"/>
            <a:ext cx="2560320" cy="73152"/>
          </a:xfrm>
          <a:prstGeom prst="rect">
            <a:avLst/>
          </a:prstGeom>
          <a:solidFill>
            <a:srgbClr val="52B788"/>
          </a:solidFill>
          <a:ln/>
        </p:spPr>
      </p:sp>
      <p:sp>
        <p:nvSpPr>
          <p:cNvPr id="12" name="Text 10"/>
          <p:cNvSpPr/>
          <p:nvPr/>
        </p:nvSpPr>
        <p:spPr>
          <a:xfrm>
            <a:off x="3383280" y="1645920"/>
            <a:ext cx="2560320" cy="731520"/>
          </a:xfrm>
          <a:prstGeom prst="rect">
            <a:avLst/>
          </a:prstGeom>
          <a:noFill/>
          <a:ln/>
        </p:spPr>
        <p:txBody>
          <a:bodyPr wrap="square" lIns="0" tIns="0" rIns="0" bIns="0" rtlCol="0" anchor="ctr"/>
          <a:lstStyle/>
          <a:p>
            <a:pPr algn="ctr" indent="0" marL="0">
              <a:buNone/>
            </a:pPr>
            <a:r>
              <a:rPr lang="en-US" sz="3600" b="1" dirty="0">
                <a:solidFill>
                  <a:srgbClr val="2D6A4F"/>
                </a:solidFill>
                <a:latin typeface="Arial" pitchFamily="34" charset="0"/>
                <a:ea typeface="Arial" pitchFamily="34" charset="-122"/>
                <a:cs typeface="Arial" pitchFamily="34" charset="-120"/>
              </a:rPr>
              <a:t>約2割</a:t>
            </a:r>
            <a:endParaRPr lang="en-US" sz="3600" dirty="0"/>
          </a:p>
        </p:txBody>
      </p:sp>
      <p:sp>
        <p:nvSpPr>
          <p:cNvPr id="13" name="Text 11"/>
          <p:cNvSpPr/>
          <p:nvPr/>
        </p:nvSpPr>
        <p:spPr>
          <a:xfrm>
            <a:off x="3383280" y="2377440"/>
            <a:ext cx="2560320" cy="365760"/>
          </a:xfrm>
          <a:prstGeom prst="rect">
            <a:avLst/>
          </a:prstGeom>
          <a:noFill/>
          <a:ln/>
        </p:spPr>
        <p:txBody>
          <a:bodyPr wrap="square" lIns="0" tIns="0" rIns="0" bIns="0" rtlCol="0" anchor="ctr"/>
          <a:lstStyle/>
          <a:p>
            <a:pPr algn="ctr" indent="0" marL="0">
              <a:buNone/>
            </a:pPr>
            <a:r>
              <a:rPr lang="en-US" sz="1100" b="1" dirty="0">
                <a:solidFill>
                  <a:srgbClr val="52B788"/>
                </a:solidFill>
                <a:latin typeface="Arial" pitchFamily="34" charset="0"/>
                <a:ea typeface="Arial" pitchFamily="34" charset="-122"/>
                <a:cs typeface="Arial" pitchFamily="34" charset="-120"/>
              </a:rPr>
              <a:t>実施歯科診療所の割合</a:t>
            </a:r>
            <a:endParaRPr lang="en-US" sz="1100" dirty="0"/>
          </a:p>
        </p:txBody>
      </p:sp>
      <p:sp>
        <p:nvSpPr>
          <p:cNvPr id="14" name="Shape 12"/>
          <p:cNvSpPr/>
          <p:nvPr/>
        </p:nvSpPr>
        <p:spPr>
          <a:xfrm>
            <a:off x="4114800" y="2880360"/>
            <a:ext cx="1097280" cy="0"/>
          </a:xfrm>
          <a:prstGeom prst="line">
            <a:avLst/>
          </a:prstGeom>
          <a:noFill/>
          <a:ln w="12700">
            <a:solidFill>
              <a:srgbClr val="B7E4C7"/>
            </a:solidFill>
            <a:prstDash val="solid"/>
          </a:ln>
        </p:spPr>
      </p:sp>
      <p:sp>
        <p:nvSpPr>
          <p:cNvPr id="15" name="Text 13"/>
          <p:cNvSpPr/>
          <p:nvPr/>
        </p:nvSpPr>
        <p:spPr>
          <a:xfrm>
            <a:off x="3657600" y="3017520"/>
            <a:ext cx="2011680" cy="10972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訪問歯科を実施している歯科診療所は全体の2割。参入余地が大きい成長領域です。</a:t>
            </a:r>
            <a:endParaRPr lang="en-US" sz="1100" dirty="0"/>
          </a:p>
        </p:txBody>
      </p:sp>
      <p:sp>
        <p:nvSpPr>
          <p:cNvPr id="16" name="Shape 14"/>
          <p:cNvSpPr/>
          <p:nvPr/>
        </p:nvSpPr>
        <p:spPr>
          <a:xfrm>
            <a:off x="6217920" y="1371600"/>
            <a:ext cx="256032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6217920" y="1371600"/>
            <a:ext cx="2560320" cy="73152"/>
          </a:xfrm>
          <a:prstGeom prst="rect">
            <a:avLst/>
          </a:prstGeom>
          <a:solidFill>
            <a:srgbClr val="52B788"/>
          </a:solidFill>
          <a:ln/>
        </p:spPr>
      </p:sp>
      <p:sp>
        <p:nvSpPr>
          <p:cNvPr id="18" name="Text 16"/>
          <p:cNvSpPr/>
          <p:nvPr/>
        </p:nvSpPr>
        <p:spPr>
          <a:xfrm>
            <a:off x="6217920" y="1645920"/>
            <a:ext cx="2560320" cy="731520"/>
          </a:xfrm>
          <a:prstGeom prst="rect">
            <a:avLst/>
          </a:prstGeom>
          <a:noFill/>
          <a:ln/>
        </p:spPr>
        <p:txBody>
          <a:bodyPr wrap="square" lIns="0" tIns="0" rIns="0" bIns="0" rtlCol="0" anchor="ctr"/>
          <a:lstStyle/>
          <a:p>
            <a:pPr algn="ctr" indent="0" marL="0">
              <a:buNone/>
            </a:pPr>
            <a:r>
              <a:rPr lang="en-US" sz="3600" b="1" dirty="0">
                <a:solidFill>
                  <a:srgbClr val="2D6A4F"/>
                </a:solidFill>
                <a:latin typeface="Arial" pitchFamily="34" charset="0"/>
                <a:ea typeface="Arial" pitchFamily="34" charset="-122"/>
                <a:cs typeface="Arial" pitchFamily="34" charset="-120"/>
              </a:rPr>
              <a:t>年7%</a:t>
            </a:r>
            <a:endParaRPr lang="en-US" sz="3600" dirty="0"/>
          </a:p>
        </p:txBody>
      </p:sp>
      <p:sp>
        <p:nvSpPr>
          <p:cNvPr id="19" name="Text 17"/>
          <p:cNvSpPr/>
          <p:nvPr/>
        </p:nvSpPr>
        <p:spPr>
          <a:xfrm>
            <a:off x="6217920" y="2377440"/>
            <a:ext cx="2560320" cy="365760"/>
          </a:xfrm>
          <a:prstGeom prst="rect">
            <a:avLst/>
          </a:prstGeom>
          <a:noFill/>
          <a:ln/>
        </p:spPr>
        <p:txBody>
          <a:bodyPr wrap="square" lIns="0" tIns="0" rIns="0" bIns="0" rtlCol="0" anchor="ctr"/>
          <a:lstStyle/>
          <a:p>
            <a:pPr algn="ctr" indent="0" marL="0">
              <a:buNone/>
            </a:pPr>
            <a:r>
              <a:rPr lang="en-US" sz="1100" b="1" dirty="0">
                <a:solidFill>
                  <a:srgbClr val="52B788"/>
                </a:solidFill>
                <a:latin typeface="Arial" pitchFamily="34" charset="0"/>
                <a:ea typeface="Arial" pitchFamily="34" charset="-122"/>
                <a:cs typeface="Arial" pitchFamily="34" charset="-120"/>
              </a:rPr>
              <a:t>市場成長率</a:t>
            </a:r>
            <a:endParaRPr lang="en-US" sz="1100" dirty="0"/>
          </a:p>
        </p:txBody>
      </p:sp>
      <p:sp>
        <p:nvSpPr>
          <p:cNvPr id="20" name="Shape 18"/>
          <p:cNvSpPr/>
          <p:nvPr/>
        </p:nvSpPr>
        <p:spPr>
          <a:xfrm>
            <a:off x="6949440" y="2880360"/>
            <a:ext cx="1097280" cy="0"/>
          </a:xfrm>
          <a:prstGeom prst="line">
            <a:avLst/>
          </a:prstGeom>
          <a:noFill/>
          <a:ln w="12700">
            <a:solidFill>
              <a:srgbClr val="B7E4C7"/>
            </a:solidFill>
            <a:prstDash val="solid"/>
          </a:ln>
        </p:spPr>
      </p:sp>
      <p:sp>
        <p:nvSpPr>
          <p:cNvPr id="21" name="Text 19"/>
          <p:cNvSpPr/>
          <p:nvPr/>
        </p:nvSpPr>
        <p:spPr>
          <a:xfrm>
            <a:off x="6492240" y="3017520"/>
            <a:ext cx="2011680" cy="10972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外来患者数が減少する中、訪問歯科は唯一成長し続ける歯科領域です。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indent="0" marL="0">
              <a:buNone/>
            </a:pPr>
            <a:r>
              <a:rPr lang="en-US" sz="1100" b="1" spc="600" kern="0" dirty="0">
                <a:solidFill>
                  <a:srgbClr val="52B788"/>
                </a:solidFill>
                <a:latin typeface="Arial" pitchFamily="34" charset="0"/>
                <a:ea typeface="Arial" pitchFamily="34" charset="-122"/>
                <a:cs typeface="Arial" pitchFamily="34" charset="-120"/>
              </a:rPr>
              <a:t>CHALLENGES</a:t>
            </a:r>
            <a:endParaRPr lang="en-US" sz="1100" dirty="0"/>
          </a:p>
        </p:txBody>
      </p:sp>
      <p:sp>
        <p:nvSpPr>
          <p:cNvPr id="3" name="Text 1"/>
          <p:cNvSpPr/>
          <p:nvPr/>
        </p:nvSpPr>
        <p:spPr>
          <a:xfrm>
            <a:off x="548640" y="548640"/>
            <a:ext cx="73152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歯科医院が抱える課題</a:t>
            </a:r>
            <a:endParaRPr lang="en-US" sz="2600" dirty="0"/>
          </a:p>
        </p:txBody>
      </p:sp>
      <p:sp>
        <p:nvSpPr>
          <p:cNvPr id="4" name="Shape 2"/>
          <p:cNvSpPr/>
          <p:nvPr/>
        </p:nvSpPr>
        <p:spPr>
          <a:xfrm>
            <a:off x="548640" y="1280160"/>
            <a:ext cx="73152" cy="731520"/>
          </a:xfrm>
          <a:prstGeom prst="rect">
            <a:avLst/>
          </a:prstGeom>
          <a:solidFill>
            <a:srgbClr val="52B788"/>
          </a:solidFill>
          <a:ln/>
        </p:spPr>
      </p:sp>
      <p:sp>
        <p:nvSpPr>
          <p:cNvPr id="5" name="Text 3"/>
          <p:cNvSpPr/>
          <p:nvPr/>
        </p:nvSpPr>
        <p:spPr>
          <a:xfrm>
            <a:off x="822960" y="1280160"/>
            <a:ext cx="7772400" cy="3200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訪問歯科を始めたいが、何から手をつければいいかわからない</a:t>
            </a:r>
            <a:endParaRPr lang="en-US" sz="1400" dirty="0"/>
          </a:p>
        </p:txBody>
      </p:sp>
      <p:sp>
        <p:nvSpPr>
          <p:cNvPr id="6" name="Text 4"/>
          <p:cNvSpPr/>
          <p:nvPr/>
        </p:nvSpPr>
        <p:spPr>
          <a:xfrm>
            <a:off x="822960" y="1600200"/>
            <a:ext cx="7772400" cy="41148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外来中心の経営から訪問歯科への参入は、ノウハウ・人材・営業先のすべてが未知数。一歩が踏み出せない。</a:t>
            </a:r>
            <a:endParaRPr lang="en-US" sz="1100" dirty="0"/>
          </a:p>
        </p:txBody>
      </p:sp>
      <p:sp>
        <p:nvSpPr>
          <p:cNvPr id="7" name="Shape 5"/>
          <p:cNvSpPr/>
          <p:nvPr/>
        </p:nvSpPr>
        <p:spPr>
          <a:xfrm>
            <a:off x="548640" y="2194560"/>
            <a:ext cx="73152" cy="731520"/>
          </a:xfrm>
          <a:prstGeom prst="rect">
            <a:avLst/>
          </a:prstGeom>
          <a:solidFill>
            <a:srgbClr val="52B788"/>
          </a:solidFill>
          <a:ln/>
        </p:spPr>
      </p:sp>
      <p:sp>
        <p:nvSpPr>
          <p:cNvPr id="8" name="Text 6"/>
          <p:cNvSpPr/>
          <p:nvPr/>
        </p:nvSpPr>
        <p:spPr>
          <a:xfrm>
            <a:off x="822960" y="2194560"/>
            <a:ext cx="7772400" cy="3200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始めたけど、患者が増えず赤字が続いている</a:t>
            </a:r>
            <a:endParaRPr lang="en-US" sz="1400" dirty="0"/>
          </a:p>
        </p:txBody>
      </p:sp>
      <p:sp>
        <p:nvSpPr>
          <p:cNvPr id="9" name="Text 7"/>
          <p:cNvSpPr/>
          <p:nvPr/>
        </p:nvSpPr>
        <p:spPr>
          <a:xfrm>
            <a:off x="822960" y="2514600"/>
            <a:ext cx="7772400" cy="41148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施設への営業方法がわからない。訪問先は確保できても算定漏れで利益が出ない。スタッフのモチベーションも低下。</a:t>
            </a:r>
            <a:endParaRPr lang="en-US" sz="1100" dirty="0"/>
          </a:p>
        </p:txBody>
      </p:sp>
      <p:sp>
        <p:nvSpPr>
          <p:cNvPr id="10" name="Shape 8"/>
          <p:cNvSpPr/>
          <p:nvPr/>
        </p:nvSpPr>
        <p:spPr>
          <a:xfrm>
            <a:off x="548640" y="3108960"/>
            <a:ext cx="73152" cy="731520"/>
          </a:xfrm>
          <a:prstGeom prst="rect">
            <a:avLst/>
          </a:prstGeom>
          <a:solidFill>
            <a:srgbClr val="2D6A4F"/>
          </a:solidFill>
          <a:ln/>
        </p:spPr>
      </p:sp>
      <p:sp>
        <p:nvSpPr>
          <p:cNvPr id="11" name="Text 9"/>
          <p:cNvSpPr/>
          <p:nvPr/>
        </p:nvSpPr>
        <p:spPr>
          <a:xfrm>
            <a:off x="822960" y="3108960"/>
            <a:ext cx="7772400" cy="3200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事務作業に追われて、本来の診療に集中できない</a:t>
            </a:r>
            <a:endParaRPr lang="en-US" sz="1400" dirty="0"/>
          </a:p>
        </p:txBody>
      </p:sp>
      <p:sp>
        <p:nvSpPr>
          <p:cNvPr id="12" name="Text 10"/>
          <p:cNvSpPr/>
          <p:nvPr/>
        </p:nvSpPr>
        <p:spPr>
          <a:xfrm>
            <a:off x="822960" y="3429000"/>
            <a:ext cx="7772400" cy="41148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算定書類・スケジュール管理・施設との調整業務が膨大。院長や事務スタッフの負担が限界に達している。</a:t>
            </a:r>
            <a:endParaRPr lang="en-US" sz="1100" dirty="0"/>
          </a:p>
        </p:txBody>
      </p:sp>
      <p:sp>
        <p:nvSpPr>
          <p:cNvPr id="13" name="Shape 11"/>
          <p:cNvSpPr/>
          <p:nvPr/>
        </p:nvSpPr>
        <p:spPr>
          <a:xfrm>
            <a:off x="548640" y="4023360"/>
            <a:ext cx="73152" cy="731520"/>
          </a:xfrm>
          <a:prstGeom prst="rect">
            <a:avLst/>
          </a:prstGeom>
          <a:solidFill>
            <a:srgbClr val="2D6A4F"/>
          </a:solidFill>
          <a:ln/>
        </p:spPr>
      </p:sp>
      <p:sp>
        <p:nvSpPr>
          <p:cNvPr id="14" name="Text 12"/>
          <p:cNvSpPr/>
          <p:nvPr/>
        </p:nvSpPr>
        <p:spPr>
          <a:xfrm>
            <a:off x="822960" y="4023360"/>
            <a:ext cx="7772400" cy="3200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コンサルを入れたが、机上の空論で成果が出なかった</a:t>
            </a:r>
            <a:endParaRPr lang="en-US" sz="1400" dirty="0"/>
          </a:p>
        </p:txBody>
      </p:sp>
      <p:sp>
        <p:nvSpPr>
          <p:cNvPr id="15" name="Text 13"/>
          <p:cNvSpPr/>
          <p:nvPr/>
        </p:nvSpPr>
        <p:spPr>
          <a:xfrm>
            <a:off x="822960" y="4343400"/>
            <a:ext cx="7772400" cy="41148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数字だけ追うコンサルでは現場が回らない。スタッフの離職、施設からのクレーム…結局、自院の状況を理解してくれない。</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2D"/>
        </a:solidFill>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indent="0" marL="0">
              <a:buNone/>
            </a:pPr>
            <a:r>
              <a:rPr lang="en-US" sz="1100" b="1" spc="600" kern="0" dirty="0">
                <a:solidFill>
                  <a:srgbClr val="52B788"/>
                </a:solidFill>
                <a:latin typeface="Arial" pitchFamily="34" charset="0"/>
                <a:ea typeface="Arial" pitchFamily="34" charset="-122"/>
                <a:cs typeface="Arial" pitchFamily="34" charset="-120"/>
              </a:rPr>
              <a:t>SOLUTION</a:t>
            </a:r>
            <a:endParaRPr lang="en-US" sz="1100" dirty="0"/>
          </a:p>
        </p:txBody>
      </p:sp>
      <p:sp>
        <p:nvSpPr>
          <p:cNvPr id="3" name="Text 1"/>
          <p:cNvSpPr/>
          <p:nvPr/>
        </p:nvSpPr>
        <p:spPr>
          <a:xfrm>
            <a:off x="548640" y="548640"/>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ARCHの3つの解決策</a:t>
            </a:r>
            <a:endParaRPr lang="en-US" sz="2600" dirty="0"/>
          </a:p>
        </p:txBody>
      </p:sp>
      <p:sp>
        <p:nvSpPr>
          <p:cNvPr id="4" name="Shape 2"/>
          <p:cNvSpPr/>
          <p:nvPr/>
        </p:nvSpPr>
        <p:spPr>
          <a:xfrm>
            <a:off x="457200" y="1280160"/>
            <a:ext cx="2651760" cy="3291840"/>
          </a:xfrm>
          <a:prstGeom prst="rect">
            <a:avLst/>
          </a:prstGeom>
          <a:solidFill>
            <a:srgbClr val="2D6A4F"/>
          </a:solidFill>
          <a:ln/>
          <a:effectLst>
            <a:outerShdw sx="100000" sy="100000" kx="0" ky="0" algn="bl" rotWithShape="0" blurRad="50800" dist="19050" dir="8100000">
              <a:srgbClr val="000000">
                <a:alpha val="10000"/>
              </a:srgbClr>
            </a:outerShdw>
          </a:effectLst>
        </p:spPr>
      </p:sp>
      <p:sp>
        <p:nvSpPr>
          <p:cNvPr id="5" name="Shape 3"/>
          <p:cNvSpPr/>
          <p:nvPr/>
        </p:nvSpPr>
        <p:spPr>
          <a:xfrm>
            <a:off x="1325880" y="1554480"/>
            <a:ext cx="914400" cy="914400"/>
          </a:xfrm>
          <a:prstGeom prst="ellipse">
            <a:avLst/>
          </a:prstGeom>
          <a:solidFill>
            <a:srgbClr val="40916C"/>
          </a:solidFill>
          <a:ln/>
        </p:spPr>
      </p:sp>
      <p:pic>
        <p:nvPicPr>
          <p:cNvPr id="6" name="Image 0" descr="preencoded.png">    </p:cNvPr>
          <p:cNvPicPr>
            <a:picLocks noChangeAspect="1"/>
          </p:cNvPicPr>
          <p:nvPr/>
        </p:nvPicPr>
        <p:blipFill>
          <a:blip r:embed="rId1"/>
          <a:stretch>
            <a:fillRect/>
          </a:stretch>
        </p:blipFill>
        <p:spPr>
          <a:xfrm>
            <a:off x="1508760" y="1737360"/>
            <a:ext cx="548640" cy="548640"/>
          </a:xfrm>
          <a:prstGeom prst="rect">
            <a:avLst/>
          </a:prstGeom>
        </p:spPr>
      </p:pic>
      <p:sp>
        <p:nvSpPr>
          <p:cNvPr id="7" name="Text 4"/>
          <p:cNvSpPr/>
          <p:nvPr/>
        </p:nvSpPr>
        <p:spPr>
          <a:xfrm>
            <a:off x="640080" y="2606040"/>
            <a:ext cx="228600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訪問歯科</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コンサルティング</a:t>
            </a:r>
            <a:endParaRPr lang="en-US" sz="1600" dirty="0"/>
          </a:p>
        </p:txBody>
      </p:sp>
      <p:sp>
        <p:nvSpPr>
          <p:cNvPr id="8" name="Text 5"/>
          <p:cNvSpPr/>
          <p:nvPr/>
        </p:nvSpPr>
        <p:spPr>
          <a:xfrm>
            <a:off x="731520" y="3429000"/>
            <a:ext cx="2103120" cy="1005840"/>
          </a:xfrm>
          <a:prstGeom prst="rect">
            <a:avLst/>
          </a:prstGeom>
          <a:noFill/>
          <a:ln/>
        </p:spPr>
        <p:txBody>
          <a:bodyPr wrap="square" lIns="0" tIns="0" rIns="0" bIns="0" rtlCol="0" anchor="ctr"/>
          <a:lstStyle/>
          <a:p>
            <a:pPr algn="l" indent="0" marL="0">
              <a:buNone/>
            </a:pPr>
            <a:r>
              <a:rPr lang="en-US" sz="1050" dirty="0">
                <a:solidFill>
                  <a:srgbClr val="B7E4C7"/>
                </a:solidFill>
                <a:latin typeface="Arial" pitchFamily="34" charset="0"/>
                <a:ea typeface="Arial" pitchFamily="34" charset="-122"/>
                <a:cs typeface="Arial" pitchFamily="34" charset="-120"/>
              </a:rPr>
              <a:t>立ち上げから運営改善まで、現場に入り込んで伴走。算定BPO・独自アプリ・医院ネットワークで全方位サポート。</a:t>
            </a:r>
            <a:endParaRPr lang="en-US" sz="1050" dirty="0"/>
          </a:p>
        </p:txBody>
      </p:sp>
      <p:sp>
        <p:nvSpPr>
          <p:cNvPr id="9" name="Shape 6"/>
          <p:cNvSpPr/>
          <p:nvPr/>
        </p:nvSpPr>
        <p:spPr>
          <a:xfrm>
            <a:off x="3383280" y="1280160"/>
            <a:ext cx="2651760" cy="3291840"/>
          </a:xfrm>
          <a:prstGeom prst="rect">
            <a:avLst/>
          </a:prstGeom>
          <a:solidFill>
            <a:srgbClr val="2D6A4F"/>
          </a:solidFill>
          <a:ln/>
          <a:effectLst>
            <a:outerShdw sx="100000" sy="100000" kx="0" ky="0" algn="bl" rotWithShape="0" blurRad="50800" dist="19050" dir="8100000">
              <a:srgbClr val="000000">
                <a:alpha val="10000"/>
              </a:srgbClr>
            </a:outerShdw>
          </a:effectLst>
        </p:spPr>
      </p:sp>
      <p:sp>
        <p:nvSpPr>
          <p:cNvPr id="10" name="Shape 7"/>
          <p:cNvSpPr/>
          <p:nvPr/>
        </p:nvSpPr>
        <p:spPr>
          <a:xfrm>
            <a:off x="4251960" y="1554480"/>
            <a:ext cx="914400" cy="914400"/>
          </a:xfrm>
          <a:prstGeom prst="ellipse">
            <a:avLst/>
          </a:prstGeom>
          <a:solidFill>
            <a:srgbClr val="40916C"/>
          </a:solidFill>
          <a:ln/>
        </p:spPr>
      </p:sp>
      <p:pic>
        <p:nvPicPr>
          <p:cNvPr id="11" name="Image 1" descr="preencoded.png">    </p:cNvPr>
          <p:cNvPicPr>
            <a:picLocks noChangeAspect="1"/>
          </p:cNvPicPr>
          <p:nvPr/>
        </p:nvPicPr>
        <p:blipFill>
          <a:blip r:embed="rId2"/>
          <a:stretch>
            <a:fillRect/>
          </a:stretch>
        </p:blipFill>
        <p:spPr>
          <a:xfrm>
            <a:off x="4434840" y="1737360"/>
            <a:ext cx="548640" cy="548640"/>
          </a:xfrm>
          <a:prstGeom prst="rect">
            <a:avLst/>
          </a:prstGeom>
        </p:spPr>
      </p:pic>
      <p:sp>
        <p:nvSpPr>
          <p:cNvPr id="12" name="Text 8"/>
          <p:cNvSpPr/>
          <p:nvPr/>
        </p:nvSpPr>
        <p:spPr>
          <a:xfrm>
            <a:off x="3566160" y="2606040"/>
            <a:ext cx="228600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営業</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コンサルティング</a:t>
            </a:r>
            <a:endParaRPr lang="en-US" sz="1600" dirty="0"/>
          </a:p>
        </p:txBody>
      </p:sp>
      <p:sp>
        <p:nvSpPr>
          <p:cNvPr id="13" name="Text 9"/>
          <p:cNvSpPr/>
          <p:nvPr/>
        </p:nvSpPr>
        <p:spPr>
          <a:xfrm>
            <a:off x="3657600" y="3429000"/>
            <a:ext cx="2103120" cy="1005840"/>
          </a:xfrm>
          <a:prstGeom prst="rect">
            <a:avLst/>
          </a:prstGeom>
          <a:noFill/>
          <a:ln/>
        </p:spPr>
        <p:txBody>
          <a:bodyPr wrap="square" lIns="0" tIns="0" rIns="0" bIns="0" rtlCol="0" anchor="ctr"/>
          <a:lstStyle/>
          <a:p>
            <a:pPr algn="l" indent="0" marL="0">
              <a:buNone/>
            </a:pPr>
            <a:r>
              <a:rPr lang="en-US" sz="1050" dirty="0">
                <a:solidFill>
                  <a:srgbClr val="B7E4C7"/>
                </a:solidFill>
                <a:latin typeface="Arial" pitchFamily="34" charset="0"/>
                <a:ea typeface="Arial" pitchFamily="34" charset="-122"/>
                <a:cs typeface="Arial" pitchFamily="34" charset="-120"/>
              </a:rPr>
              <a:t>施設への同行営業から営業戦略の立案まで。泥臭い現場ノウハウで営業力を根本から強化。</a:t>
            </a:r>
            <a:endParaRPr lang="en-US" sz="1050" dirty="0"/>
          </a:p>
        </p:txBody>
      </p:sp>
      <p:sp>
        <p:nvSpPr>
          <p:cNvPr id="14" name="Shape 10"/>
          <p:cNvSpPr/>
          <p:nvPr/>
        </p:nvSpPr>
        <p:spPr>
          <a:xfrm>
            <a:off x="6309360" y="1280160"/>
            <a:ext cx="2651760" cy="3291840"/>
          </a:xfrm>
          <a:prstGeom prst="rect">
            <a:avLst/>
          </a:prstGeom>
          <a:solidFill>
            <a:srgbClr val="2D6A4F"/>
          </a:solidFill>
          <a:ln/>
          <a:effectLst>
            <a:outerShdw sx="100000" sy="100000" kx="0" ky="0" algn="bl" rotWithShape="0" blurRad="50800" dist="19050" dir="8100000">
              <a:srgbClr val="000000">
                <a:alpha val="10000"/>
              </a:srgbClr>
            </a:outerShdw>
          </a:effectLst>
        </p:spPr>
      </p:sp>
      <p:sp>
        <p:nvSpPr>
          <p:cNvPr id="15" name="Shape 11"/>
          <p:cNvSpPr/>
          <p:nvPr/>
        </p:nvSpPr>
        <p:spPr>
          <a:xfrm>
            <a:off x="7178040" y="1554480"/>
            <a:ext cx="914400" cy="914400"/>
          </a:xfrm>
          <a:prstGeom prst="ellipse">
            <a:avLst/>
          </a:prstGeom>
          <a:solidFill>
            <a:srgbClr val="40916C"/>
          </a:solidFill>
          <a:ln/>
        </p:spPr>
      </p:sp>
      <p:pic>
        <p:nvPicPr>
          <p:cNvPr id="16" name="Image 2" descr="preencoded.png">    </p:cNvPr>
          <p:cNvPicPr>
            <a:picLocks noChangeAspect="1"/>
          </p:cNvPicPr>
          <p:nvPr/>
        </p:nvPicPr>
        <p:blipFill>
          <a:blip r:embed="rId3"/>
          <a:stretch>
            <a:fillRect/>
          </a:stretch>
        </p:blipFill>
        <p:spPr>
          <a:xfrm>
            <a:off x="7360920" y="1737360"/>
            <a:ext cx="548640" cy="548640"/>
          </a:xfrm>
          <a:prstGeom prst="rect">
            <a:avLst/>
          </a:prstGeom>
        </p:spPr>
      </p:pic>
      <p:sp>
        <p:nvSpPr>
          <p:cNvPr id="17" name="Text 12"/>
          <p:cNvSpPr/>
          <p:nvPr/>
        </p:nvSpPr>
        <p:spPr>
          <a:xfrm>
            <a:off x="6492240" y="2606040"/>
            <a:ext cx="228600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外注事務長</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サービス</a:t>
            </a:r>
            <a:endParaRPr lang="en-US" sz="1600" dirty="0"/>
          </a:p>
        </p:txBody>
      </p:sp>
      <p:sp>
        <p:nvSpPr>
          <p:cNvPr id="18" name="Text 13"/>
          <p:cNvSpPr/>
          <p:nvPr/>
        </p:nvSpPr>
        <p:spPr>
          <a:xfrm>
            <a:off x="6583680" y="3429000"/>
            <a:ext cx="2103120" cy="1005840"/>
          </a:xfrm>
          <a:prstGeom prst="rect">
            <a:avLst/>
          </a:prstGeom>
          <a:noFill/>
          <a:ln/>
        </p:spPr>
        <p:txBody>
          <a:bodyPr wrap="square" lIns="0" tIns="0" rIns="0" bIns="0" rtlCol="0" anchor="ctr"/>
          <a:lstStyle/>
          <a:p>
            <a:pPr algn="l" indent="0" marL="0">
              <a:buNone/>
            </a:pPr>
            <a:r>
              <a:rPr lang="en-US" sz="1050" dirty="0">
                <a:solidFill>
                  <a:srgbClr val="B7E4C7"/>
                </a:solidFill>
                <a:latin typeface="Arial" pitchFamily="34" charset="0"/>
                <a:ea typeface="Arial" pitchFamily="34" charset="-122"/>
                <a:cs typeface="Arial" pitchFamily="34" charset="-120"/>
              </a:rPr>
              <a:t>院長の右腕として、経営管理・スタッフマネジメント・業務改善を代行。診療に集中できる環境を作る。</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5"/>
        </a:solidFill>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indent="0" marL="0">
              <a:buNone/>
            </a:pPr>
            <a:r>
              <a:rPr lang="en-US" sz="1100" b="1" spc="600" kern="0" dirty="0">
                <a:solidFill>
                  <a:srgbClr val="52B788"/>
                </a:solidFill>
                <a:latin typeface="Arial" pitchFamily="34" charset="0"/>
                <a:ea typeface="Arial" pitchFamily="34" charset="-122"/>
                <a:cs typeface="Arial" pitchFamily="34" charset="-120"/>
              </a:rPr>
              <a:t>DETAILS</a:t>
            </a:r>
            <a:endParaRPr lang="en-US" sz="1100" dirty="0"/>
          </a:p>
        </p:txBody>
      </p:sp>
      <p:sp>
        <p:nvSpPr>
          <p:cNvPr id="3" name="Text 1"/>
          <p:cNvSpPr/>
          <p:nvPr/>
        </p:nvSpPr>
        <p:spPr>
          <a:xfrm>
            <a:off x="548640" y="548640"/>
            <a:ext cx="73152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具体的なサービス内容</a:t>
            </a:r>
            <a:endParaRPr lang="en-US" sz="2600" dirty="0"/>
          </a:p>
        </p:txBody>
      </p:sp>
      <p:sp>
        <p:nvSpPr>
          <p:cNvPr id="4" name="Shape 2"/>
          <p:cNvSpPr/>
          <p:nvPr/>
        </p:nvSpPr>
        <p:spPr>
          <a:xfrm>
            <a:off x="457200" y="1280160"/>
            <a:ext cx="393192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685800" y="1481328"/>
            <a:ext cx="457200" cy="457200"/>
          </a:xfrm>
          <a:prstGeom prst="rect">
            <a:avLst/>
          </a:prstGeom>
        </p:spPr>
      </p:pic>
      <p:sp>
        <p:nvSpPr>
          <p:cNvPr id="6" name="Text 3"/>
          <p:cNvSpPr/>
          <p:nvPr/>
        </p:nvSpPr>
        <p:spPr>
          <a:xfrm>
            <a:off x="1325880" y="1389888"/>
            <a:ext cx="2743200" cy="292608"/>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算定BPO</a:t>
            </a:r>
            <a:endParaRPr lang="en-US" sz="1300" dirty="0"/>
          </a:p>
        </p:txBody>
      </p:sp>
      <p:sp>
        <p:nvSpPr>
          <p:cNvPr id="7" name="Text 4"/>
          <p:cNvSpPr/>
          <p:nvPr/>
        </p:nvSpPr>
        <p:spPr>
          <a:xfrm>
            <a:off x="1325880" y="1691640"/>
            <a:ext cx="2834640" cy="438912"/>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レセプト算定業務を完全代行。算定漏れゼロを実現し、収益を最大化。</a:t>
            </a:r>
            <a:endParaRPr lang="en-US" sz="1000" dirty="0"/>
          </a:p>
        </p:txBody>
      </p:sp>
      <p:sp>
        <p:nvSpPr>
          <p:cNvPr id="8" name="Shape 5"/>
          <p:cNvSpPr/>
          <p:nvPr/>
        </p:nvSpPr>
        <p:spPr>
          <a:xfrm>
            <a:off x="457200" y="2423160"/>
            <a:ext cx="393192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685800" y="2624328"/>
            <a:ext cx="457200" cy="457200"/>
          </a:xfrm>
          <a:prstGeom prst="rect">
            <a:avLst/>
          </a:prstGeom>
        </p:spPr>
      </p:pic>
      <p:sp>
        <p:nvSpPr>
          <p:cNvPr id="10" name="Text 6"/>
          <p:cNvSpPr/>
          <p:nvPr/>
        </p:nvSpPr>
        <p:spPr>
          <a:xfrm>
            <a:off x="1325880" y="2532888"/>
            <a:ext cx="2743200" cy="292608"/>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ARCH独自アプリ</a:t>
            </a:r>
            <a:endParaRPr lang="en-US" sz="1300" dirty="0"/>
          </a:p>
        </p:txBody>
      </p:sp>
      <p:sp>
        <p:nvSpPr>
          <p:cNvPr id="11" name="Text 7"/>
          <p:cNvSpPr/>
          <p:nvPr/>
        </p:nvSpPr>
        <p:spPr>
          <a:xfrm>
            <a:off x="1325880" y="2834640"/>
            <a:ext cx="2834640" cy="438912"/>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事務作業・ルート調整をシステム化。現場の工数を大幅削減。</a:t>
            </a:r>
            <a:endParaRPr lang="en-US" sz="1000" dirty="0"/>
          </a:p>
        </p:txBody>
      </p:sp>
      <p:sp>
        <p:nvSpPr>
          <p:cNvPr id="12" name="Shape 8"/>
          <p:cNvSpPr/>
          <p:nvPr/>
        </p:nvSpPr>
        <p:spPr>
          <a:xfrm>
            <a:off x="457200" y="3566160"/>
            <a:ext cx="393192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685800" y="3767328"/>
            <a:ext cx="457200" cy="457200"/>
          </a:xfrm>
          <a:prstGeom prst="rect">
            <a:avLst/>
          </a:prstGeom>
        </p:spPr>
      </p:pic>
      <p:sp>
        <p:nvSpPr>
          <p:cNvPr id="14" name="Text 9"/>
          <p:cNvSpPr/>
          <p:nvPr/>
        </p:nvSpPr>
        <p:spPr>
          <a:xfrm>
            <a:off x="1325880" y="3675888"/>
            <a:ext cx="2743200" cy="292608"/>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医院ネットワーク</a:t>
            </a:r>
            <a:endParaRPr lang="en-US" sz="1300" dirty="0"/>
          </a:p>
        </p:txBody>
      </p:sp>
      <p:sp>
        <p:nvSpPr>
          <p:cNvPr id="15" name="Text 10"/>
          <p:cNvSpPr/>
          <p:nvPr/>
        </p:nvSpPr>
        <p:spPr>
          <a:xfrm>
            <a:off x="1325880" y="3977640"/>
            <a:ext cx="2834640" cy="438912"/>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取引先医院様同士の情報共有コミュニティで業界最新情報をキャッチ。</a:t>
            </a:r>
            <a:endParaRPr lang="en-US" sz="1000" dirty="0"/>
          </a:p>
        </p:txBody>
      </p:sp>
      <p:sp>
        <p:nvSpPr>
          <p:cNvPr id="16" name="Shape 11"/>
          <p:cNvSpPr/>
          <p:nvPr/>
        </p:nvSpPr>
        <p:spPr>
          <a:xfrm>
            <a:off x="4754880" y="1280160"/>
            <a:ext cx="393192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4983480" y="1481328"/>
            <a:ext cx="457200" cy="457200"/>
          </a:xfrm>
          <a:prstGeom prst="rect">
            <a:avLst/>
          </a:prstGeom>
        </p:spPr>
      </p:pic>
      <p:sp>
        <p:nvSpPr>
          <p:cNvPr id="18" name="Text 12"/>
          <p:cNvSpPr/>
          <p:nvPr/>
        </p:nvSpPr>
        <p:spPr>
          <a:xfrm>
            <a:off x="5623560" y="1389888"/>
            <a:ext cx="2743200" cy="292608"/>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同行営業・営業指導</a:t>
            </a:r>
            <a:endParaRPr lang="en-US" sz="1300" dirty="0"/>
          </a:p>
        </p:txBody>
      </p:sp>
      <p:sp>
        <p:nvSpPr>
          <p:cNvPr id="19" name="Text 13"/>
          <p:cNvSpPr/>
          <p:nvPr/>
        </p:nvSpPr>
        <p:spPr>
          <a:xfrm>
            <a:off x="5623560" y="1691640"/>
            <a:ext cx="2834640" cy="438912"/>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施設訪問に同行し、営業の型を現場で直接伝授。自走できる営業チームを育成。</a:t>
            </a:r>
            <a:endParaRPr lang="en-US" sz="1000" dirty="0"/>
          </a:p>
        </p:txBody>
      </p:sp>
      <p:sp>
        <p:nvSpPr>
          <p:cNvPr id="20" name="Shape 14"/>
          <p:cNvSpPr/>
          <p:nvPr/>
        </p:nvSpPr>
        <p:spPr>
          <a:xfrm>
            <a:off x="4754880" y="2423160"/>
            <a:ext cx="393192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1" name="Image 4" descr="preencoded.png">    </p:cNvPr>
          <p:cNvPicPr>
            <a:picLocks noChangeAspect="1"/>
          </p:cNvPicPr>
          <p:nvPr/>
        </p:nvPicPr>
        <p:blipFill>
          <a:blip r:embed="rId5"/>
          <a:stretch>
            <a:fillRect/>
          </a:stretch>
        </p:blipFill>
        <p:spPr>
          <a:xfrm>
            <a:off x="4983480" y="2624328"/>
            <a:ext cx="457200" cy="457200"/>
          </a:xfrm>
          <a:prstGeom prst="rect">
            <a:avLst/>
          </a:prstGeom>
        </p:spPr>
      </p:pic>
      <p:sp>
        <p:nvSpPr>
          <p:cNvPr id="22" name="Text 15"/>
          <p:cNvSpPr/>
          <p:nvPr/>
        </p:nvSpPr>
        <p:spPr>
          <a:xfrm>
            <a:off x="5623560" y="2532888"/>
            <a:ext cx="2743200" cy="292608"/>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経営分析・戦略立案</a:t>
            </a:r>
            <a:endParaRPr lang="en-US" sz="1300" dirty="0"/>
          </a:p>
        </p:txBody>
      </p:sp>
      <p:sp>
        <p:nvSpPr>
          <p:cNvPr id="23" name="Text 16"/>
          <p:cNvSpPr/>
          <p:nvPr/>
        </p:nvSpPr>
        <p:spPr>
          <a:xfrm>
            <a:off x="5623560" y="2834640"/>
            <a:ext cx="2834640" cy="438912"/>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売上・経費・施設別収支を分析し、改善策を立案。データに基づく経営判断を支援。</a:t>
            </a:r>
            <a:endParaRPr lang="en-US" sz="1000" dirty="0"/>
          </a:p>
        </p:txBody>
      </p:sp>
      <p:sp>
        <p:nvSpPr>
          <p:cNvPr id="24" name="Shape 17"/>
          <p:cNvSpPr/>
          <p:nvPr/>
        </p:nvSpPr>
        <p:spPr>
          <a:xfrm>
            <a:off x="4754880" y="3566160"/>
            <a:ext cx="393192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5" name="Image 5" descr="preencoded.png">    </p:cNvPr>
          <p:cNvPicPr>
            <a:picLocks noChangeAspect="1"/>
          </p:cNvPicPr>
          <p:nvPr/>
        </p:nvPicPr>
        <p:blipFill>
          <a:blip r:embed="rId6"/>
          <a:stretch>
            <a:fillRect/>
          </a:stretch>
        </p:blipFill>
        <p:spPr>
          <a:xfrm>
            <a:off x="4983480" y="3767328"/>
            <a:ext cx="457200" cy="457200"/>
          </a:xfrm>
          <a:prstGeom prst="rect">
            <a:avLst/>
          </a:prstGeom>
        </p:spPr>
      </p:pic>
      <p:sp>
        <p:nvSpPr>
          <p:cNvPr id="26" name="Text 18"/>
          <p:cNvSpPr/>
          <p:nvPr/>
        </p:nvSpPr>
        <p:spPr>
          <a:xfrm>
            <a:off x="5623560" y="3675888"/>
            <a:ext cx="2743200" cy="292608"/>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スタッフ育成・マネジメント</a:t>
            </a:r>
            <a:endParaRPr lang="en-US" sz="1300" dirty="0"/>
          </a:p>
        </p:txBody>
      </p:sp>
      <p:sp>
        <p:nvSpPr>
          <p:cNvPr id="27" name="Text 19"/>
          <p:cNvSpPr/>
          <p:nvPr/>
        </p:nvSpPr>
        <p:spPr>
          <a:xfrm>
            <a:off x="5623560" y="3977640"/>
            <a:ext cx="2834640" cy="438912"/>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元教諭の経験を活かし、スタッフの自己肯定感を高め行動変容を促す。</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indent="0" marL="0">
              <a:buNone/>
            </a:pPr>
            <a:r>
              <a:rPr lang="en-US" sz="1100" b="1" spc="600" kern="0" dirty="0">
                <a:solidFill>
                  <a:srgbClr val="52B788"/>
                </a:solidFill>
                <a:latin typeface="Arial" pitchFamily="34" charset="0"/>
                <a:ea typeface="Arial" pitchFamily="34" charset="-122"/>
                <a:cs typeface="Arial" pitchFamily="34" charset="-120"/>
              </a:rPr>
              <a:t>RESULTS</a:t>
            </a:r>
            <a:endParaRPr lang="en-US" sz="1100" dirty="0"/>
          </a:p>
        </p:txBody>
      </p:sp>
      <p:sp>
        <p:nvSpPr>
          <p:cNvPr id="3" name="Text 1"/>
          <p:cNvSpPr/>
          <p:nvPr/>
        </p:nvSpPr>
        <p:spPr>
          <a:xfrm>
            <a:off x="548640" y="548640"/>
            <a:ext cx="73152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導入後の成果イメージ</a:t>
            </a:r>
            <a:endParaRPr lang="en-US" sz="2600" dirty="0"/>
          </a:p>
        </p:txBody>
      </p:sp>
      <p:sp>
        <p:nvSpPr>
          <p:cNvPr id="4" name="Shape 2"/>
          <p:cNvSpPr/>
          <p:nvPr/>
        </p:nvSpPr>
        <p:spPr>
          <a:xfrm>
            <a:off x="457200" y="1280160"/>
            <a:ext cx="3840480" cy="3291840"/>
          </a:xfrm>
          <a:prstGeom prst="rect">
            <a:avLst/>
          </a:prstGeom>
          <a:solidFill>
            <a:srgbClr val="FEF2F2"/>
          </a:solidFill>
          <a:ln/>
          <a:effectLst>
            <a:outerShdw sx="100000" sy="100000" kx="0" ky="0" algn="bl" rotWithShape="0" blurRad="76200" dist="25400" dir="8100000">
              <a:srgbClr val="000000">
                <a:alpha val="12000"/>
              </a:srgbClr>
            </a:outerShdw>
          </a:effectLst>
        </p:spPr>
      </p:sp>
      <p:sp>
        <p:nvSpPr>
          <p:cNvPr id="5" name="Text 3"/>
          <p:cNvSpPr/>
          <p:nvPr/>
        </p:nvSpPr>
        <p:spPr>
          <a:xfrm>
            <a:off x="457200" y="1371600"/>
            <a:ext cx="3840480" cy="457200"/>
          </a:xfrm>
          <a:prstGeom prst="rect">
            <a:avLst/>
          </a:prstGeom>
          <a:noFill/>
          <a:ln/>
        </p:spPr>
        <p:txBody>
          <a:bodyPr wrap="square" lIns="0" tIns="0" rIns="0" bIns="0" rtlCol="0" anchor="ctr"/>
          <a:lstStyle/>
          <a:p>
            <a:pPr algn="ctr" indent="0" marL="0">
              <a:buNone/>
            </a:pPr>
            <a:r>
              <a:rPr lang="en-US" sz="1600" b="1" dirty="0">
                <a:solidFill>
                  <a:srgbClr val="DC2626"/>
                </a:solidFill>
                <a:latin typeface="Arial" pitchFamily="34" charset="0"/>
                <a:ea typeface="Arial" pitchFamily="34" charset="-122"/>
                <a:cs typeface="Arial" pitchFamily="34" charset="-120"/>
              </a:rPr>
              <a:t>Before（導入前）</a:t>
            </a:r>
            <a:endParaRPr lang="en-US" sz="1600" dirty="0"/>
          </a:p>
        </p:txBody>
      </p:sp>
      <p:sp>
        <p:nvSpPr>
          <p:cNvPr id="6" name="Text 4"/>
          <p:cNvSpPr/>
          <p:nvPr/>
        </p:nvSpPr>
        <p:spPr>
          <a:xfrm>
            <a:off x="731520" y="1920240"/>
            <a:ext cx="3291840" cy="411480"/>
          </a:xfrm>
          <a:prstGeom prst="rect">
            <a:avLst/>
          </a:prstGeom>
          <a:noFill/>
          <a:ln/>
        </p:spPr>
        <p:txBody>
          <a:bodyPr wrap="square" lIns="0" tIns="0" rIns="0" bIns="0" rtlCol="0" anchor="ctr"/>
          <a:lstStyle/>
          <a:p>
            <a:pPr indent="0" marL="0">
              <a:buNone/>
            </a:pPr>
            <a:r>
              <a:rPr lang="en-US" sz="1050" dirty="0">
                <a:solidFill>
                  <a:srgbClr val="991B1B"/>
                </a:solidFill>
                <a:latin typeface="Arial" pitchFamily="34" charset="0"/>
                <a:ea typeface="Arial" pitchFamily="34" charset="-122"/>
                <a:cs typeface="Arial" pitchFamily="34" charset="-120"/>
              </a:rPr>
              <a:t>✕  訪問歯科の売上が月50万円前後で停滞</a:t>
            </a:r>
            <a:endParaRPr lang="en-US" sz="1050" dirty="0"/>
          </a:p>
        </p:txBody>
      </p:sp>
      <p:sp>
        <p:nvSpPr>
          <p:cNvPr id="7" name="Text 5"/>
          <p:cNvSpPr/>
          <p:nvPr/>
        </p:nvSpPr>
        <p:spPr>
          <a:xfrm>
            <a:off x="731520" y="2423160"/>
            <a:ext cx="3291840" cy="411480"/>
          </a:xfrm>
          <a:prstGeom prst="rect">
            <a:avLst/>
          </a:prstGeom>
          <a:noFill/>
          <a:ln/>
        </p:spPr>
        <p:txBody>
          <a:bodyPr wrap="square" lIns="0" tIns="0" rIns="0" bIns="0" rtlCol="0" anchor="ctr"/>
          <a:lstStyle/>
          <a:p>
            <a:pPr indent="0" marL="0">
              <a:buNone/>
            </a:pPr>
            <a:r>
              <a:rPr lang="en-US" sz="1050" dirty="0">
                <a:solidFill>
                  <a:srgbClr val="991B1B"/>
                </a:solidFill>
                <a:latin typeface="Arial" pitchFamily="34" charset="0"/>
                <a:ea typeface="Arial" pitchFamily="34" charset="-122"/>
                <a:cs typeface="Arial" pitchFamily="34" charset="-120"/>
              </a:rPr>
              <a:t>✕  施設への営業方法がわからず、新規開拓ゼロ</a:t>
            </a:r>
            <a:endParaRPr lang="en-US" sz="1050" dirty="0"/>
          </a:p>
        </p:txBody>
      </p:sp>
      <p:sp>
        <p:nvSpPr>
          <p:cNvPr id="8" name="Text 6"/>
          <p:cNvSpPr/>
          <p:nvPr/>
        </p:nvSpPr>
        <p:spPr>
          <a:xfrm>
            <a:off x="731520" y="2926080"/>
            <a:ext cx="3291840" cy="411480"/>
          </a:xfrm>
          <a:prstGeom prst="rect">
            <a:avLst/>
          </a:prstGeom>
          <a:noFill/>
          <a:ln/>
        </p:spPr>
        <p:txBody>
          <a:bodyPr wrap="square" lIns="0" tIns="0" rIns="0" bIns="0" rtlCol="0" anchor="ctr"/>
          <a:lstStyle/>
          <a:p>
            <a:pPr indent="0" marL="0">
              <a:buNone/>
            </a:pPr>
            <a:r>
              <a:rPr lang="en-US" sz="1050" dirty="0">
                <a:solidFill>
                  <a:srgbClr val="991B1B"/>
                </a:solidFill>
                <a:latin typeface="Arial" pitchFamily="34" charset="0"/>
                <a:ea typeface="Arial" pitchFamily="34" charset="-122"/>
                <a:cs typeface="Arial" pitchFamily="34" charset="-120"/>
              </a:rPr>
              <a:t>✕  算定漏れで本来の収益の60%しか回収できていない</a:t>
            </a:r>
            <a:endParaRPr lang="en-US" sz="1050" dirty="0"/>
          </a:p>
        </p:txBody>
      </p:sp>
      <p:sp>
        <p:nvSpPr>
          <p:cNvPr id="9" name="Text 7"/>
          <p:cNvSpPr/>
          <p:nvPr/>
        </p:nvSpPr>
        <p:spPr>
          <a:xfrm>
            <a:off x="731520" y="3429000"/>
            <a:ext cx="3291840" cy="411480"/>
          </a:xfrm>
          <a:prstGeom prst="rect">
            <a:avLst/>
          </a:prstGeom>
          <a:noFill/>
          <a:ln/>
        </p:spPr>
        <p:txBody>
          <a:bodyPr wrap="square" lIns="0" tIns="0" rIns="0" bIns="0" rtlCol="0" anchor="ctr"/>
          <a:lstStyle/>
          <a:p>
            <a:pPr indent="0" marL="0">
              <a:buNone/>
            </a:pPr>
            <a:r>
              <a:rPr lang="en-US" sz="1050" dirty="0">
                <a:solidFill>
                  <a:srgbClr val="991B1B"/>
                </a:solidFill>
                <a:latin typeface="Arial" pitchFamily="34" charset="0"/>
                <a:ea typeface="Arial" pitchFamily="34" charset="-122"/>
                <a:cs typeface="Arial" pitchFamily="34" charset="-120"/>
              </a:rPr>
              <a:t>✕  事務作業に月40時間以上を費やしている</a:t>
            </a:r>
            <a:endParaRPr lang="en-US" sz="1050" dirty="0"/>
          </a:p>
        </p:txBody>
      </p:sp>
      <p:sp>
        <p:nvSpPr>
          <p:cNvPr id="10" name="Text 8"/>
          <p:cNvSpPr/>
          <p:nvPr/>
        </p:nvSpPr>
        <p:spPr>
          <a:xfrm>
            <a:off x="731520" y="3931920"/>
            <a:ext cx="3291840" cy="411480"/>
          </a:xfrm>
          <a:prstGeom prst="rect">
            <a:avLst/>
          </a:prstGeom>
          <a:noFill/>
          <a:ln/>
        </p:spPr>
        <p:txBody>
          <a:bodyPr wrap="square" lIns="0" tIns="0" rIns="0" bIns="0" rtlCol="0" anchor="ctr"/>
          <a:lstStyle/>
          <a:p>
            <a:pPr indent="0" marL="0">
              <a:buNone/>
            </a:pPr>
            <a:r>
              <a:rPr lang="en-US" sz="1050" dirty="0">
                <a:solidFill>
                  <a:srgbClr val="991B1B"/>
                </a:solidFill>
                <a:latin typeface="Arial" pitchFamily="34" charset="0"/>
                <a:ea typeface="Arial" pitchFamily="34" charset="-122"/>
                <a:cs typeface="Arial" pitchFamily="34" charset="-120"/>
              </a:rPr>
              <a:t>✕  スタッフの離職率が高く、採用コストが膨大</a:t>
            </a:r>
            <a:endParaRPr lang="en-US" sz="1050" dirty="0"/>
          </a:p>
        </p:txBody>
      </p:sp>
      <p:sp>
        <p:nvSpPr>
          <p:cNvPr id="11" name="Shape 9"/>
          <p:cNvSpPr/>
          <p:nvPr/>
        </p:nvSpPr>
        <p:spPr>
          <a:xfrm>
            <a:off x="4846320" y="1280160"/>
            <a:ext cx="3840480" cy="3291840"/>
          </a:xfrm>
          <a:prstGeom prst="rect">
            <a:avLst/>
          </a:prstGeom>
          <a:solidFill>
            <a:srgbClr val="ECFDF5"/>
          </a:solidFill>
          <a:ln/>
          <a:effectLst>
            <a:outerShdw sx="100000" sy="100000" kx="0" ky="0" algn="bl" rotWithShape="0" blurRad="76200" dist="25400" dir="8100000">
              <a:srgbClr val="000000">
                <a:alpha val="12000"/>
              </a:srgbClr>
            </a:outerShdw>
          </a:effectLst>
        </p:spPr>
      </p:sp>
      <p:sp>
        <p:nvSpPr>
          <p:cNvPr id="12" name="Text 10"/>
          <p:cNvSpPr/>
          <p:nvPr/>
        </p:nvSpPr>
        <p:spPr>
          <a:xfrm>
            <a:off x="4846320" y="1371600"/>
            <a:ext cx="3840480" cy="457200"/>
          </a:xfrm>
          <a:prstGeom prst="rect">
            <a:avLst/>
          </a:prstGeom>
          <a:noFill/>
          <a:ln/>
        </p:spPr>
        <p:txBody>
          <a:bodyPr wrap="square" lIns="0" tIns="0" rIns="0" bIns="0" rtlCol="0" anchor="ctr"/>
          <a:lstStyle/>
          <a:p>
            <a:pPr algn="ctr" indent="0" marL="0">
              <a:buNone/>
            </a:pPr>
            <a:r>
              <a:rPr lang="en-US" sz="1600" b="1" dirty="0">
                <a:solidFill>
                  <a:srgbClr val="2D6A4F"/>
                </a:solidFill>
                <a:latin typeface="Arial" pitchFamily="34" charset="0"/>
                <a:ea typeface="Arial" pitchFamily="34" charset="-122"/>
                <a:cs typeface="Arial" pitchFamily="34" charset="-120"/>
              </a:rPr>
              <a:t>After（導入後）</a:t>
            </a:r>
            <a:endParaRPr lang="en-US" sz="1600" dirty="0"/>
          </a:p>
        </p:txBody>
      </p:sp>
      <p:sp>
        <p:nvSpPr>
          <p:cNvPr id="13" name="Text 11"/>
          <p:cNvSpPr/>
          <p:nvPr/>
        </p:nvSpPr>
        <p:spPr>
          <a:xfrm>
            <a:off x="5120640" y="1920240"/>
            <a:ext cx="3291840" cy="411480"/>
          </a:xfrm>
          <a:prstGeom prst="rect">
            <a:avLst/>
          </a:prstGeom>
          <a:noFill/>
          <a:ln/>
        </p:spPr>
        <p:txBody>
          <a:bodyPr wrap="square" lIns="0" tIns="0" rIns="0" bIns="0" rtlCol="0" anchor="ctr"/>
          <a:lstStyle/>
          <a:p>
            <a:pPr indent="0" marL="0">
              <a:buNone/>
            </a:pPr>
            <a:r>
              <a:rPr lang="en-US" sz="1050" dirty="0">
                <a:solidFill>
                  <a:srgbClr val="2D6A4F"/>
                </a:solidFill>
                <a:latin typeface="Arial" pitchFamily="34" charset="0"/>
                <a:ea typeface="Arial" pitchFamily="34" charset="-122"/>
                <a:cs typeface="Arial" pitchFamily="34" charset="-120"/>
              </a:rPr>
              <a:t>◎  月商200万円超を12ヶ月以内に達成</a:t>
            </a:r>
            <a:endParaRPr lang="en-US" sz="1050" dirty="0"/>
          </a:p>
        </p:txBody>
      </p:sp>
      <p:sp>
        <p:nvSpPr>
          <p:cNvPr id="14" name="Text 12"/>
          <p:cNvSpPr/>
          <p:nvPr/>
        </p:nvSpPr>
        <p:spPr>
          <a:xfrm>
            <a:off x="5120640" y="2423160"/>
            <a:ext cx="3291840" cy="411480"/>
          </a:xfrm>
          <a:prstGeom prst="rect">
            <a:avLst/>
          </a:prstGeom>
          <a:noFill/>
          <a:ln/>
        </p:spPr>
        <p:txBody>
          <a:bodyPr wrap="square" lIns="0" tIns="0" rIns="0" bIns="0" rtlCol="0" anchor="ctr"/>
          <a:lstStyle/>
          <a:p>
            <a:pPr indent="0" marL="0">
              <a:buNone/>
            </a:pPr>
            <a:r>
              <a:rPr lang="en-US" sz="1050" dirty="0">
                <a:solidFill>
                  <a:srgbClr val="2D6A4F"/>
                </a:solidFill>
                <a:latin typeface="Arial" pitchFamily="34" charset="0"/>
                <a:ea typeface="Arial" pitchFamily="34" charset="-122"/>
                <a:cs typeface="Arial" pitchFamily="34" charset="-120"/>
              </a:rPr>
              <a:t>◎  施設10件以上と新規契約を獲得</a:t>
            </a:r>
            <a:endParaRPr lang="en-US" sz="1050" dirty="0"/>
          </a:p>
        </p:txBody>
      </p:sp>
      <p:sp>
        <p:nvSpPr>
          <p:cNvPr id="15" name="Text 13"/>
          <p:cNvSpPr/>
          <p:nvPr/>
        </p:nvSpPr>
        <p:spPr>
          <a:xfrm>
            <a:off x="5120640" y="2926080"/>
            <a:ext cx="3291840" cy="411480"/>
          </a:xfrm>
          <a:prstGeom prst="rect">
            <a:avLst/>
          </a:prstGeom>
          <a:noFill/>
          <a:ln/>
        </p:spPr>
        <p:txBody>
          <a:bodyPr wrap="square" lIns="0" tIns="0" rIns="0" bIns="0" rtlCol="0" anchor="ctr"/>
          <a:lstStyle/>
          <a:p>
            <a:pPr indent="0" marL="0">
              <a:buNone/>
            </a:pPr>
            <a:r>
              <a:rPr lang="en-US" sz="1050" dirty="0">
                <a:solidFill>
                  <a:srgbClr val="2D6A4F"/>
                </a:solidFill>
                <a:latin typeface="Arial" pitchFamily="34" charset="0"/>
                <a:ea typeface="Arial" pitchFamily="34" charset="-122"/>
                <a:cs typeface="Arial" pitchFamily="34" charset="-120"/>
              </a:rPr>
              <a:t>◎  算定漏れゼロで収益を最大化</a:t>
            </a:r>
            <a:endParaRPr lang="en-US" sz="1050" dirty="0"/>
          </a:p>
        </p:txBody>
      </p:sp>
      <p:sp>
        <p:nvSpPr>
          <p:cNvPr id="16" name="Text 14"/>
          <p:cNvSpPr/>
          <p:nvPr/>
        </p:nvSpPr>
        <p:spPr>
          <a:xfrm>
            <a:off x="5120640" y="3429000"/>
            <a:ext cx="3291840" cy="411480"/>
          </a:xfrm>
          <a:prstGeom prst="rect">
            <a:avLst/>
          </a:prstGeom>
          <a:noFill/>
          <a:ln/>
        </p:spPr>
        <p:txBody>
          <a:bodyPr wrap="square" lIns="0" tIns="0" rIns="0" bIns="0" rtlCol="0" anchor="ctr"/>
          <a:lstStyle/>
          <a:p>
            <a:pPr indent="0" marL="0">
              <a:buNone/>
            </a:pPr>
            <a:r>
              <a:rPr lang="en-US" sz="1050" dirty="0">
                <a:solidFill>
                  <a:srgbClr val="2D6A4F"/>
                </a:solidFill>
                <a:latin typeface="Arial" pitchFamily="34" charset="0"/>
                <a:ea typeface="Arial" pitchFamily="34" charset="-122"/>
                <a:cs typeface="Arial" pitchFamily="34" charset="-120"/>
              </a:rPr>
              <a:t>◎  事務作業を月10時間以下に短縮</a:t>
            </a:r>
            <a:endParaRPr lang="en-US" sz="1050" dirty="0"/>
          </a:p>
        </p:txBody>
      </p:sp>
      <p:sp>
        <p:nvSpPr>
          <p:cNvPr id="17" name="Text 15"/>
          <p:cNvSpPr/>
          <p:nvPr/>
        </p:nvSpPr>
        <p:spPr>
          <a:xfrm>
            <a:off x="5120640" y="3931920"/>
            <a:ext cx="3291840" cy="411480"/>
          </a:xfrm>
          <a:prstGeom prst="rect">
            <a:avLst/>
          </a:prstGeom>
          <a:noFill/>
          <a:ln/>
        </p:spPr>
        <p:txBody>
          <a:bodyPr wrap="square" lIns="0" tIns="0" rIns="0" bIns="0" rtlCol="0" anchor="ctr"/>
          <a:lstStyle/>
          <a:p>
            <a:pPr indent="0" marL="0">
              <a:buNone/>
            </a:pPr>
            <a:r>
              <a:rPr lang="en-US" sz="1050" dirty="0">
                <a:solidFill>
                  <a:srgbClr val="2D6A4F"/>
                </a:solidFill>
                <a:latin typeface="Arial" pitchFamily="34" charset="0"/>
                <a:ea typeface="Arial" pitchFamily="34" charset="-122"/>
                <a:cs typeface="Arial" pitchFamily="34" charset="-120"/>
              </a:rPr>
              <a:t>◎  スタッフの定着率改善、チーム力向上</a:t>
            </a:r>
            <a:endParaRPr lang="en-US" sz="1050" dirty="0"/>
          </a:p>
        </p:txBody>
      </p:sp>
      <p:pic>
        <p:nvPicPr>
          <p:cNvPr id="18" name="Image 0" descr="preencoded.png">    </p:cNvPr>
          <p:cNvPicPr>
            <a:picLocks noChangeAspect="1"/>
          </p:cNvPicPr>
          <p:nvPr/>
        </p:nvPicPr>
        <p:blipFill>
          <a:blip r:embed="rId1"/>
          <a:stretch>
            <a:fillRect/>
          </a:stretch>
        </p:blipFill>
        <p:spPr>
          <a:xfrm>
            <a:off x="4389120" y="2651760"/>
            <a:ext cx="365760" cy="365760"/>
          </a:xfrm>
          <a:prstGeom prst="rect">
            <a:avLst/>
          </a:prstGeom>
        </p:spPr>
      </p:pic>
      <p:sp>
        <p:nvSpPr>
          <p:cNvPr id="19" name="Shape 16"/>
          <p:cNvSpPr/>
          <p:nvPr/>
        </p:nvSpPr>
        <p:spPr>
          <a:xfrm>
            <a:off x="4297680" y="2560320"/>
            <a:ext cx="548640" cy="548640"/>
          </a:xfrm>
          <a:prstGeom prst="ellipse">
            <a:avLst/>
          </a:prstGeom>
          <a:solidFill>
            <a:srgbClr val="52B788"/>
          </a:solidFill>
          <a:ln/>
        </p:spPr>
      </p:sp>
      <p:pic>
        <p:nvPicPr>
          <p:cNvPr id="20" name="Image 1" descr="preencoded.png">    </p:cNvPr>
          <p:cNvPicPr>
            <a:picLocks noChangeAspect="1"/>
          </p:cNvPicPr>
          <p:nvPr/>
        </p:nvPicPr>
        <p:blipFill>
          <a:blip r:embed="rId2"/>
          <a:stretch>
            <a:fillRect/>
          </a:stretch>
        </p:blipFill>
        <p:spPr>
          <a:xfrm>
            <a:off x="4389120" y="2651760"/>
            <a:ext cx="365760" cy="365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5"/>
        </a:solidFill>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indent="0" marL="0">
              <a:buNone/>
            </a:pPr>
            <a:r>
              <a:rPr lang="en-US" sz="1100" b="1" spc="600" kern="0" dirty="0">
                <a:solidFill>
                  <a:srgbClr val="52B788"/>
                </a:solidFill>
                <a:latin typeface="Arial" pitchFamily="34" charset="0"/>
                <a:ea typeface="Arial" pitchFamily="34" charset="-122"/>
                <a:cs typeface="Arial" pitchFamily="34" charset="-120"/>
              </a:rPr>
              <a:t>PRICING</a:t>
            </a:r>
            <a:endParaRPr lang="en-US" sz="1100" dirty="0"/>
          </a:p>
        </p:txBody>
      </p:sp>
      <p:sp>
        <p:nvSpPr>
          <p:cNvPr id="3" name="Text 1"/>
          <p:cNvSpPr/>
          <p:nvPr/>
        </p:nvSpPr>
        <p:spPr>
          <a:xfrm>
            <a:off x="548640" y="548640"/>
            <a:ext cx="73152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料金プラン</a:t>
            </a:r>
            <a:endParaRPr lang="en-US" sz="2600" dirty="0"/>
          </a:p>
        </p:txBody>
      </p:sp>
      <p:sp>
        <p:nvSpPr>
          <p:cNvPr id="4" name="Shape 2"/>
          <p:cNvSpPr/>
          <p:nvPr/>
        </p:nvSpPr>
        <p:spPr>
          <a:xfrm>
            <a:off x="365760" y="1234440"/>
            <a:ext cx="274320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365760" y="1463040"/>
            <a:ext cx="2743200" cy="36576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ライトプラン</a:t>
            </a:r>
            <a:endParaRPr lang="en-US" sz="1500" dirty="0"/>
          </a:p>
        </p:txBody>
      </p:sp>
      <p:sp>
        <p:nvSpPr>
          <p:cNvPr id="6" name="Text 4"/>
          <p:cNvSpPr/>
          <p:nvPr/>
        </p:nvSpPr>
        <p:spPr>
          <a:xfrm>
            <a:off x="365760" y="1783080"/>
            <a:ext cx="27432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まずは始めたい方に</a:t>
            </a:r>
            <a:endParaRPr lang="en-US" sz="900" dirty="0"/>
          </a:p>
        </p:txBody>
      </p:sp>
      <p:sp>
        <p:nvSpPr>
          <p:cNvPr id="7" name="Text 5"/>
          <p:cNvSpPr/>
          <p:nvPr/>
        </p:nvSpPr>
        <p:spPr>
          <a:xfrm>
            <a:off x="365760" y="2103120"/>
            <a:ext cx="2743200" cy="548640"/>
          </a:xfrm>
          <a:prstGeom prst="rect">
            <a:avLst/>
          </a:prstGeom>
          <a:noFill/>
          <a:ln/>
        </p:spPr>
        <p:txBody>
          <a:bodyPr wrap="square" lIns="0" tIns="0" rIns="0" bIns="0" rtlCol="0" anchor="ctr"/>
          <a:lstStyle/>
          <a:p>
            <a:pPr algn="ctr" indent="0" marL="0">
              <a:buNone/>
            </a:pPr>
            <a:r>
              <a:rPr lang="en-US" sz="3200" b="1" dirty="0">
                <a:solidFill>
                  <a:srgbClr val="2D6A4F"/>
                </a:solidFill>
                <a:latin typeface="Arial" pitchFamily="34" charset="0"/>
                <a:ea typeface="Arial" pitchFamily="34" charset="-122"/>
                <a:cs typeface="Arial" pitchFamily="34" charset="-120"/>
              </a:rPr>
              <a:t>10万円</a:t>
            </a:r>
            <a:endParaRPr lang="en-US" sz="3200" dirty="0"/>
          </a:p>
        </p:txBody>
      </p:sp>
      <p:sp>
        <p:nvSpPr>
          <p:cNvPr id="8" name="Text 6"/>
          <p:cNvSpPr/>
          <p:nvPr/>
        </p:nvSpPr>
        <p:spPr>
          <a:xfrm>
            <a:off x="365760" y="2606040"/>
            <a:ext cx="27432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/月（税別）</a:t>
            </a:r>
            <a:endParaRPr lang="en-US" sz="1000" dirty="0"/>
          </a:p>
        </p:txBody>
      </p:sp>
      <p:sp>
        <p:nvSpPr>
          <p:cNvPr id="9" name="Text 7"/>
          <p:cNvSpPr/>
          <p:nvPr/>
        </p:nvSpPr>
        <p:spPr>
          <a:xfrm>
            <a:off x="640080" y="2971800"/>
            <a:ext cx="2194560" cy="320040"/>
          </a:xfrm>
          <a:prstGeom prst="rect">
            <a:avLst/>
          </a:prstGeom>
          <a:noFill/>
          <a:ln/>
        </p:spPr>
        <p:txBody>
          <a:bodyPr wrap="square" lIns="0" tIns="0" rIns="0" bIns="0" rtlCol="0" anchor="ctr"/>
          <a:lstStyle/>
          <a:p>
            <a:pPr indent="0" marL="0">
              <a:buNone/>
            </a:pPr>
            <a:r>
              <a:rPr lang="en-US" sz="1000" dirty="0">
                <a:solidFill>
                  <a:srgbClr val="1F2937"/>
                </a:solidFill>
                <a:latin typeface="Arial" pitchFamily="34" charset="0"/>
                <a:ea typeface="Arial" pitchFamily="34" charset="-122"/>
                <a:cs typeface="Arial" pitchFamily="34" charset="-120"/>
              </a:rPr>
              <a:t>✓  訪問歯科の基本サポート</a:t>
            </a:r>
            <a:endParaRPr lang="en-US" sz="1000" dirty="0"/>
          </a:p>
        </p:txBody>
      </p:sp>
      <p:sp>
        <p:nvSpPr>
          <p:cNvPr id="10" name="Text 8"/>
          <p:cNvSpPr/>
          <p:nvPr/>
        </p:nvSpPr>
        <p:spPr>
          <a:xfrm>
            <a:off x="640080" y="3337560"/>
            <a:ext cx="2194560" cy="320040"/>
          </a:xfrm>
          <a:prstGeom prst="rect">
            <a:avLst/>
          </a:prstGeom>
          <a:noFill/>
          <a:ln/>
        </p:spPr>
        <p:txBody>
          <a:bodyPr wrap="square" lIns="0" tIns="0" rIns="0" bIns="0" rtlCol="0" anchor="ctr"/>
          <a:lstStyle/>
          <a:p>
            <a:pPr indent="0" marL="0">
              <a:buNone/>
            </a:pPr>
            <a:r>
              <a:rPr lang="en-US" sz="1000" dirty="0">
                <a:solidFill>
                  <a:srgbClr val="1F2937"/>
                </a:solidFill>
                <a:latin typeface="Arial" pitchFamily="34" charset="0"/>
                <a:ea typeface="Arial" pitchFamily="34" charset="-122"/>
                <a:cs typeface="Arial" pitchFamily="34" charset="-120"/>
              </a:rPr>
              <a:t>✓  ARCH独自アプリ使用可能</a:t>
            </a:r>
            <a:endParaRPr lang="en-US" sz="1000" dirty="0"/>
          </a:p>
        </p:txBody>
      </p:sp>
      <p:sp>
        <p:nvSpPr>
          <p:cNvPr id="11" name="Text 9"/>
          <p:cNvSpPr/>
          <p:nvPr/>
        </p:nvSpPr>
        <p:spPr>
          <a:xfrm>
            <a:off x="640080" y="3703320"/>
            <a:ext cx="2194560" cy="320040"/>
          </a:xfrm>
          <a:prstGeom prst="rect">
            <a:avLst/>
          </a:prstGeom>
          <a:noFill/>
          <a:ln/>
        </p:spPr>
        <p:txBody>
          <a:bodyPr wrap="square" lIns="0" tIns="0" rIns="0" bIns="0" rtlCol="0" anchor="ctr"/>
          <a:lstStyle/>
          <a:p>
            <a:pPr indent="0" marL="0">
              <a:buNone/>
            </a:pPr>
            <a:r>
              <a:rPr lang="en-US" sz="1000" dirty="0">
                <a:solidFill>
                  <a:srgbClr val="1F2937"/>
                </a:solidFill>
                <a:latin typeface="Arial" pitchFamily="34" charset="0"/>
                <a:ea typeface="Arial" pitchFamily="34" charset="-122"/>
                <a:cs typeface="Arial" pitchFamily="34" charset="-120"/>
              </a:rPr>
              <a:t>✓  メール・チャットサポート</a:t>
            </a:r>
            <a:endParaRPr lang="en-US" sz="1000" dirty="0"/>
          </a:p>
        </p:txBody>
      </p:sp>
      <p:sp>
        <p:nvSpPr>
          <p:cNvPr id="12" name="Shape 10"/>
          <p:cNvSpPr/>
          <p:nvPr/>
        </p:nvSpPr>
        <p:spPr>
          <a:xfrm>
            <a:off x="3291840" y="1234440"/>
            <a:ext cx="2743200" cy="3474720"/>
          </a:xfrm>
          <a:prstGeom prst="rect">
            <a:avLst/>
          </a:prstGeom>
          <a:solidFill>
            <a:srgbClr val="2D6A4F"/>
          </a:solidFill>
          <a:ln/>
          <a:effectLst>
            <a:outerShdw sx="100000" sy="100000" kx="0" ky="0" algn="bl" rotWithShape="0" blurRad="76200" dist="25400" dir="8100000">
              <a:srgbClr val="000000">
                <a:alpha val="12000"/>
              </a:srgbClr>
            </a:outerShdw>
          </a:effectLst>
        </p:spPr>
      </p:sp>
      <p:sp>
        <p:nvSpPr>
          <p:cNvPr id="13" name="Shape 11"/>
          <p:cNvSpPr/>
          <p:nvPr/>
        </p:nvSpPr>
        <p:spPr>
          <a:xfrm>
            <a:off x="3749040" y="1234440"/>
            <a:ext cx="1828800" cy="320040"/>
          </a:xfrm>
          <a:prstGeom prst="rect">
            <a:avLst/>
          </a:prstGeom>
          <a:solidFill>
            <a:srgbClr val="52B788"/>
          </a:solidFill>
          <a:ln/>
        </p:spPr>
      </p:sp>
      <p:sp>
        <p:nvSpPr>
          <p:cNvPr id="14" name="Text 12"/>
          <p:cNvSpPr/>
          <p:nvPr/>
        </p:nvSpPr>
        <p:spPr>
          <a:xfrm>
            <a:off x="3749040" y="1234440"/>
            <a:ext cx="18288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一番人気</a:t>
            </a:r>
            <a:endParaRPr lang="en-US" sz="1000" dirty="0"/>
          </a:p>
        </p:txBody>
      </p:sp>
      <p:sp>
        <p:nvSpPr>
          <p:cNvPr id="15" name="Text 13"/>
          <p:cNvSpPr/>
          <p:nvPr/>
        </p:nvSpPr>
        <p:spPr>
          <a:xfrm>
            <a:off x="3291840" y="1691640"/>
            <a:ext cx="27432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スタンダードプラン</a:t>
            </a:r>
            <a:endParaRPr lang="en-US" sz="1500" dirty="0"/>
          </a:p>
        </p:txBody>
      </p:sp>
      <p:sp>
        <p:nvSpPr>
          <p:cNvPr id="16" name="Text 14"/>
          <p:cNvSpPr/>
          <p:nvPr/>
        </p:nvSpPr>
        <p:spPr>
          <a:xfrm>
            <a:off x="3291840" y="2011680"/>
            <a:ext cx="2743200" cy="274320"/>
          </a:xfrm>
          <a:prstGeom prst="rect">
            <a:avLst/>
          </a:prstGeom>
          <a:noFill/>
          <a:ln/>
        </p:spPr>
        <p:txBody>
          <a:bodyPr wrap="square" lIns="0" tIns="0" rIns="0" bIns="0" rtlCol="0" anchor="ctr"/>
          <a:lstStyle/>
          <a:p>
            <a:pPr algn="ctr" indent="0" marL="0">
              <a:buNone/>
            </a:pPr>
            <a:r>
              <a:rPr lang="en-US" sz="900" dirty="0">
                <a:solidFill>
                  <a:srgbClr val="B7E4C7"/>
                </a:solidFill>
                <a:latin typeface="Arial" pitchFamily="34" charset="0"/>
                <a:ea typeface="Arial" pitchFamily="34" charset="-122"/>
                <a:cs typeface="Arial" pitchFamily="34" charset="-120"/>
              </a:rPr>
              <a:t>成長を加速させたい方に</a:t>
            </a:r>
            <a:endParaRPr lang="en-US" sz="900" dirty="0"/>
          </a:p>
        </p:txBody>
      </p:sp>
      <p:sp>
        <p:nvSpPr>
          <p:cNvPr id="17" name="Text 15"/>
          <p:cNvSpPr/>
          <p:nvPr/>
        </p:nvSpPr>
        <p:spPr>
          <a:xfrm>
            <a:off x="3291840" y="2331720"/>
            <a:ext cx="27432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30万円</a:t>
            </a:r>
            <a:endParaRPr lang="en-US" sz="3200" dirty="0"/>
          </a:p>
        </p:txBody>
      </p:sp>
      <p:sp>
        <p:nvSpPr>
          <p:cNvPr id="18" name="Text 16"/>
          <p:cNvSpPr/>
          <p:nvPr/>
        </p:nvSpPr>
        <p:spPr>
          <a:xfrm>
            <a:off x="3291840" y="2834640"/>
            <a:ext cx="2743200" cy="274320"/>
          </a:xfrm>
          <a:prstGeom prst="rect">
            <a:avLst/>
          </a:prstGeom>
          <a:noFill/>
          <a:ln/>
        </p:spPr>
        <p:txBody>
          <a:bodyPr wrap="square" lIns="0" tIns="0" rIns="0" bIns="0" rtlCol="0" anchor="ctr"/>
          <a:lstStyle/>
          <a:p>
            <a:pPr algn="ctr" indent="0" marL="0">
              <a:buNone/>
            </a:pPr>
            <a:r>
              <a:rPr lang="en-US" sz="1000" dirty="0">
                <a:solidFill>
                  <a:srgbClr val="B7E4C7"/>
                </a:solidFill>
                <a:latin typeface="Arial" pitchFamily="34" charset="0"/>
                <a:ea typeface="Arial" pitchFamily="34" charset="-122"/>
                <a:cs typeface="Arial" pitchFamily="34" charset="-120"/>
              </a:rPr>
              <a:t>/月（税別）</a:t>
            </a:r>
            <a:endParaRPr lang="en-US" sz="1000" dirty="0"/>
          </a:p>
        </p:txBody>
      </p:sp>
      <p:sp>
        <p:nvSpPr>
          <p:cNvPr id="19" name="Text 17"/>
          <p:cNvSpPr/>
          <p:nvPr/>
        </p:nvSpPr>
        <p:spPr>
          <a:xfrm>
            <a:off x="3566160" y="3200400"/>
            <a:ext cx="2194560" cy="32004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  ライトプランの全内容</a:t>
            </a:r>
            <a:endParaRPr lang="en-US" sz="1000" dirty="0"/>
          </a:p>
        </p:txBody>
      </p:sp>
      <p:sp>
        <p:nvSpPr>
          <p:cNvPr id="20" name="Text 18"/>
          <p:cNvSpPr/>
          <p:nvPr/>
        </p:nvSpPr>
        <p:spPr>
          <a:xfrm>
            <a:off x="3566160" y="3566160"/>
            <a:ext cx="2194560" cy="32004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  月2回 Web/対面MTG</a:t>
            </a:r>
            <a:endParaRPr lang="en-US" sz="1000" dirty="0"/>
          </a:p>
        </p:txBody>
      </p:sp>
      <p:sp>
        <p:nvSpPr>
          <p:cNvPr id="21" name="Text 19"/>
          <p:cNvSpPr/>
          <p:nvPr/>
        </p:nvSpPr>
        <p:spPr>
          <a:xfrm>
            <a:off x="3566160" y="3931920"/>
            <a:ext cx="2194560" cy="32004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  同行営業（月2回）</a:t>
            </a:r>
            <a:endParaRPr lang="en-US" sz="1000" dirty="0"/>
          </a:p>
        </p:txBody>
      </p:sp>
      <p:sp>
        <p:nvSpPr>
          <p:cNvPr id="22" name="Text 20"/>
          <p:cNvSpPr/>
          <p:nvPr/>
        </p:nvSpPr>
        <p:spPr>
          <a:xfrm>
            <a:off x="3566160" y="4297680"/>
            <a:ext cx="2194560" cy="32004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  経営分析レポート</a:t>
            </a:r>
            <a:endParaRPr lang="en-US" sz="1000" dirty="0"/>
          </a:p>
        </p:txBody>
      </p:sp>
      <p:sp>
        <p:nvSpPr>
          <p:cNvPr id="23" name="Shape 21"/>
          <p:cNvSpPr/>
          <p:nvPr/>
        </p:nvSpPr>
        <p:spPr>
          <a:xfrm>
            <a:off x="6217920" y="1234440"/>
            <a:ext cx="274320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Text 22"/>
          <p:cNvSpPr/>
          <p:nvPr/>
        </p:nvSpPr>
        <p:spPr>
          <a:xfrm>
            <a:off x="6217920" y="1463040"/>
            <a:ext cx="2743200" cy="36576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プレミアムプラン</a:t>
            </a:r>
            <a:endParaRPr lang="en-US" sz="1500" dirty="0"/>
          </a:p>
        </p:txBody>
      </p:sp>
      <p:sp>
        <p:nvSpPr>
          <p:cNvPr id="25" name="Text 23"/>
          <p:cNvSpPr/>
          <p:nvPr/>
        </p:nvSpPr>
        <p:spPr>
          <a:xfrm>
            <a:off x="6217920" y="1783080"/>
            <a:ext cx="27432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圧倒的な成長を実現したい方に</a:t>
            </a:r>
            <a:endParaRPr lang="en-US" sz="900" dirty="0"/>
          </a:p>
        </p:txBody>
      </p:sp>
      <p:sp>
        <p:nvSpPr>
          <p:cNvPr id="26" name="Text 24"/>
          <p:cNvSpPr/>
          <p:nvPr/>
        </p:nvSpPr>
        <p:spPr>
          <a:xfrm>
            <a:off x="6217920" y="2103120"/>
            <a:ext cx="2743200" cy="548640"/>
          </a:xfrm>
          <a:prstGeom prst="rect">
            <a:avLst/>
          </a:prstGeom>
          <a:noFill/>
          <a:ln/>
        </p:spPr>
        <p:txBody>
          <a:bodyPr wrap="square" lIns="0" tIns="0" rIns="0" bIns="0" rtlCol="0" anchor="ctr"/>
          <a:lstStyle/>
          <a:p>
            <a:pPr algn="ctr" indent="0" marL="0">
              <a:buNone/>
            </a:pPr>
            <a:r>
              <a:rPr lang="en-US" sz="3200" b="1" dirty="0">
                <a:solidFill>
                  <a:srgbClr val="2D6A4F"/>
                </a:solidFill>
                <a:latin typeface="Arial" pitchFamily="34" charset="0"/>
                <a:ea typeface="Arial" pitchFamily="34" charset="-122"/>
                <a:cs typeface="Arial" pitchFamily="34" charset="-120"/>
              </a:rPr>
              <a:t>50万円</a:t>
            </a:r>
            <a:endParaRPr lang="en-US" sz="3200" dirty="0"/>
          </a:p>
        </p:txBody>
      </p:sp>
      <p:sp>
        <p:nvSpPr>
          <p:cNvPr id="27" name="Text 25"/>
          <p:cNvSpPr/>
          <p:nvPr/>
        </p:nvSpPr>
        <p:spPr>
          <a:xfrm>
            <a:off x="6217920" y="2606040"/>
            <a:ext cx="27432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/月（税別）</a:t>
            </a:r>
            <a:endParaRPr lang="en-US" sz="1000" dirty="0"/>
          </a:p>
        </p:txBody>
      </p:sp>
      <p:sp>
        <p:nvSpPr>
          <p:cNvPr id="28" name="Text 26"/>
          <p:cNvSpPr/>
          <p:nvPr/>
        </p:nvSpPr>
        <p:spPr>
          <a:xfrm>
            <a:off x="6492240" y="2971800"/>
            <a:ext cx="2194560" cy="320040"/>
          </a:xfrm>
          <a:prstGeom prst="rect">
            <a:avLst/>
          </a:prstGeom>
          <a:noFill/>
          <a:ln/>
        </p:spPr>
        <p:txBody>
          <a:bodyPr wrap="square" lIns="0" tIns="0" rIns="0" bIns="0" rtlCol="0" anchor="ctr"/>
          <a:lstStyle/>
          <a:p>
            <a:pPr indent="0" marL="0">
              <a:buNone/>
            </a:pPr>
            <a:r>
              <a:rPr lang="en-US" sz="1000" dirty="0">
                <a:solidFill>
                  <a:srgbClr val="1F2937"/>
                </a:solidFill>
                <a:latin typeface="Arial" pitchFamily="34" charset="0"/>
                <a:ea typeface="Arial" pitchFamily="34" charset="-122"/>
                <a:cs typeface="Arial" pitchFamily="34" charset="-120"/>
              </a:rPr>
              <a:t>✓  スタンダードの全内容</a:t>
            </a:r>
            <a:endParaRPr lang="en-US" sz="1000" dirty="0"/>
          </a:p>
        </p:txBody>
      </p:sp>
      <p:sp>
        <p:nvSpPr>
          <p:cNvPr id="29" name="Text 27"/>
          <p:cNvSpPr/>
          <p:nvPr/>
        </p:nvSpPr>
        <p:spPr>
          <a:xfrm>
            <a:off x="6492240" y="3337560"/>
            <a:ext cx="2194560" cy="320040"/>
          </a:xfrm>
          <a:prstGeom prst="rect">
            <a:avLst/>
          </a:prstGeom>
          <a:noFill/>
          <a:ln/>
        </p:spPr>
        <p:txBody>
          <a:bodyPr wrap="square" lIns="0" tIns="0" rIns="0" bIns="0" rtlCol="0" anchor="ctr"/>
          <a:lstStyle/>
          <a:p>
            <a:pPr indent="0" marL="0">
              <a:buNone/>
            </a:pPr>
            <a:r>
              <a:rPr lang="en-US" sz="1000" dirty="0">
                <a:solidFill>
                  <a:srgbClr val="1F2937"/>
                </a:solidFill>
                <a:latin typeface="Arial" pitchFamily="34" charset="0"/>
                <a:ea typeface="Arial" pitchFamily="34" charset="-122"/>
                <a:cs typeface="Arial" pitchFamily="34" charset="-120"/>
              </a:rPr>
              <a:t>✓  週1回 Web/対面MTG</a:t>
            </a:r>
            <a:endParaRPr lang="en-US" sz="1000" dirty="0"/>
          </a:p>
        </p:txBody>
      </p:sp>
      <p:sp>
        <p:nvSpPr>
          <p:cNvPr id="30" name="Text 28"/>
          <p:cNvSpPr/>
          <p:nvPr/>
        </p:nvSpPr>
        <p:spPr>
          <a:xfrm>
            <a:off x="6492240" y="3703320"/>
            <a:ext cx="2194560" cy="320040"/>
          </a:xfrm>
          <a:prstGeom prst="rect">
            <a:avLst/>
          </a:prstGeom>
          <a:noFill/>
          <a:ln/>
        </p:spPr>
        <p:txBody>
          <a:bodyPr wrap="square" lIns="0" tIns="0" rIns="0" bIns="0" rtlCol="0" anchor="ctr"/>
          <a:lstStyle/>
          <a:p>
            <a:pPr indent="0" marL="0">
              <a:buNone/>
            </a:pPr>
            <a:r>
              <a:rPr lang="en-US" sz="1000" dirty="0">
                <a:solidFill>
                  <a:srgbClr val="1F2937"/>
                </a:solidFill>
                <a:latin typeface="Arial" pitchFamily="34" charset="0"/>
                <a:ea typeface="Arial" pitchFamily="34" charset="-122"/>
                <a:cs typeface="Arial" pitchFamily="34" charset="-120"/>
              </a:rPr>
              <a:t>✓  外注事務長機能</a:t>
            </a:r>
            <a:endParaRPr lang="en-US" sz="1000" dirty="0"/>
          </a:p>
        </p:txBody>
      </p:sp>
      <p:sp>
        <p:nvSpPr>
          <p:cNvPr id="31" name="Text 29"/>
          <p:cNvSpPr/>
          <p:nvPr/>
        </p:nvSpPr>
        <p:spPr>
          <a:xfrm>
            <a:off x="6492240" y="4069080"/>
            <a:ext cx="2194560" cy="320040"/>
          </a:xfrm>
          <a:prstGeom prst="rect">
            <a:avLst/>
          </a:prstGeom>
          <a:noFill/>
          <a:ln/>
        </p:spPr>
        <p:txBody>
          <a:bodyPr wrap="square" lIns="0" tIns="0" rIns="0" bIns="0" rtlCol="0" anchor="ctr"/>
          <a:lstStyle/>
          <a:p>
            <a:pPr indent="0" marL="0">
              <a:buNone/>
            </a:pPr>
            <a:r>
              <a:rPr lang="en-US" sz="1000" dirty="0">
                <a:solidFill>
                  <a:srgbClr val="1F2937"/>
                </a:solidFill>
                <a:latin typeface="Arial" pitchFamily="34" charset="0"/>
                <a:ea typeface="Arial" pitchFamily="34" charset="-122"/>
                <a:cs typeface="Arial" pitchFamily="34" charset="-120"/>
              </a:rPr>
              <a:t>✓  医院オリジナルアプリ開発</a:t>
            </a:r>
            <a:endParaRPr lang="en-US" sz="1000" dirty="0"/>
          </a:p>
        </p:txBody>
      </p:sp>
      <p:sp>
        <p:nvSpPr>
          <p:cNvPr id="32" name="Text 30"/>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 料金はすべて税別表示です。詳細はお問い合わせください。</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indent="0" marL="0">
              <a:buNone/>
            </a:pPr>
            <a:r>
              <a:rPr lang="en-US" sz="1100" b="1" spc="600" kern="0" dirty="0">
                <a:solidFill>
                  <a:srgbClr val="52B788"/>
                </a:solidFill>
                <a:latin typeface="Arial" pitchFamily="34" charset="0"/>
                <a:ea typeface="Arial" pitchFamily="34" charset="-122"/>
                <a:cs typeface="Arial" pitchFamily="34" charset="-120"/>
              </a:rPr>
              <a:t>WHY ARCH</a:t>
            </a:r>
            <a:endParaRPr lang="en-US" sz="1100" dirty="0"/>
          </a:p>
        </p:txBody>
      </p:sp>
      <p:sp>
        <p:nvSpPr>
          <p:cNvPr id="3" name="Text 1"/>
          <p:cNvSpPr/>
          <p:nvPr/>
        </p:nvSpPr>
        <p:spPr>
          <a:xfrm>
            <a:off x="548640" y="548640"/>
            <a:ext cx="73152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ARCHが選ばれる理由</a:t>
            </a:r>
            <a:endParaRPr lang="en-US" sz="2600" dirty="0"/>
          </a:p>
        </p:txBody>
      </p:sp>
      <p:sp>
        <p:nvSpPr>
          <p:cNvPr id="4" name="Shape 2"/>
          <p:cNvSpPr/>
          <p:nvPr/>
        </p:nvSpPr>
        <p:spPr>
          <a:xfrm>
            <a:off x="457200" y="1234440"/>
            <a:ext cx="4023360" cy="1645920"/>
          </a:xfrm>
          <a:prstGeom prst="rect">
            <a:avLst/>
          </a:prstGeom>
          <a:solidFill>
            <a:srgbClr val="F5F7F5"/>
          </a:solidFill>
          <a:ln/>
          <a:effectLst>
            <a:outerShdw sx="100000" sy="100000" kx="0" ky="0" algn="bl" rotWithShape="0" blurRad="76200" dist="25400" dir="8100000">
              <a:srgbClr val="000000">
                <a:alpha val="12000"/>
              </a:srgbClr>
            </a:outerShdw>
          </a:effectLst>
        </p:spPr>
      </p:sp>
      <p:sp>
        <p:nvSpPr>
          <p:cNvPr id="5" name="Shape 3"/>
          <p:cNvSpPr/>
          <p:nvPr/>
        </p:nvSpPr>
        <p:spPr>
          <a:xfrm>
            <a:off x="640080" y="1417320"/>
            <a:ext cx="594360" cy="594360"/>
          </a:xfrm>
          <a:prstGeom prst="ellipse">
            <a:avLst/>
          </a:prstGeom>
          <a:solidFill>
            <a:srgbClr val="52B788"/>
          </a:solidFill>
          <a:ln/>
        </p:spPr>
      </p:sp>
      <p:sp>
        <p:nvSpPr>
          <p:cNvPr id="6" name="Text 4"/>
          <p:cNvSpPr/>
          <p:nvPr/>
        </p:nvSpPr>
        <p:spPr>
          <a:xfrm>
            <a:off x="640080" y="14173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7" name="Text 5"/>
          <p:cNvSpPr/>
          <p:nvPr/>
        </p:nvSpPr>
        <p:spPr>
          <a:xfrm>
            <a:off x="1417320" y="1417320"/>
            <a:ext cx="2834640"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現場主義の圧倒的ノウハウ</a:t>
            </a:r>
            <a:endParaRPr lang="en-US" sz="1400" dirty="0"/>
          </a:p>
        </p:txBody>
      </p:sp>
      <p:sp>
        <p:nvSpPr>
          <p:cNvPr id="8" name="Text 6"/>
          <p:cNvSpPr/>
          <p:nvPr/>
        </p:nvSpPr>
        <p:spPr>
          <a:xfrm>
            <a:off x="1417320" y="1828800"/>
            <a:ext cx="2834640" cy="86868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机上の空論ではなく、実際の現場経験に基づいたコンサルティング。施設の内情を理解しているからこそ、的確な提案ができる。</a:t>
            </a:r>
            <a:endParaRPr lang="en-US" sz="1000" dirty="0"/>
          </a:p>
        </p:txBody>
      </p:sp>
      <p:sp>
        <p:nvSpPr>
          <p:cNvPr id="9" name="Shape 7"/>
          <p:cNvSpPr/>
          <p:nvPr/>
        </p:nvSpPr>
        <p:spPr>
          <a:xfrm>
            <a:off x="4754880" y="1234440"/>
            <a:ext cx="4023360" cy="1645920"/>
          </a:xfrm>
          <a:prstGeom prst="rect">
            <a:avLst/>
          </a:prstGeom>
          <a:solidFill>
            <a:srgbClr val="F5F7F5"/>
          </a:solidFill>
          <a:ln/>
          <a:effectLst>
            <a:outerShdw sx="100000" sy="100000" kx="0" ky="0" algn="bl" rotWithShape="0" blurRad="76200" dist="25400" dir="8100000">
              <a:srgbClr val="000000">
                <a:alpha val="12000"/>
              </a:srgbClr>
            </a:outerShdw>
          </a:effectLst>
        </p:spPr>
      </p:sp>
      <p:sp>
        <p:nvSpPr>
          <p:cNvPr id="10" name="Shape 8"/>
          <p:cNvSpPr/>
          <p:nvPr/>
        </p:nvSpPr>
        <p:spPr>
          <a:xfrm>
            <a:off x="4937760" y="1417320"/>
            <a:ext cx="594360" cy="594360"/>
          </a:xfrm>
          <a:prstGeom prst="ellipse">
            <a:avLst/>
          </a:prstGeom>
          <a:solidFill>
            <a:srgbClr val="52B788"/>
          </a:solidFill>
          <a:ln/>
        </p:spPr>
      </p:sp>
      <p:sp>
        <p:nvSpPr>
          <p:cNvPr id="11" name="Text 9"/>
          <p:cNvSpPr/>
          <p:nvPr/>
        </p:nvSpPr>
        <p:spPr>
          <a:xfrm>
            <a:off x="4937760" y="14173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12" name="Text 10"/>
          <p:cNvSpPr/>
          <p:nvPr/>
        </p:nvSpPr>
        <p:spPr>
          <a:xfrm>
            <a:off x="5715000" y="1417320"/>
            <a:ext cx="2834640"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元教諭ならではの人材育成力</a:t>
            </a:r>
            <a:endParaRPr lang="en-US" sz="1400" dirty="0"/>
          </a:p>
        </p:txBody>
      </p:sp>
      <p:sp>
        <p:nvSpPr>
          <p:cNvPr id="13" name="Text 11"/>
          <p:cNvSpPr/>
          <p:nvPr/>
        </p:nvSpPr>
        <p:spPr>
          <a:xfrm>
            <a:off x="5715000" y="1828800"/>
            <a:ext cx="2834640" cy="86868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営業担当者の自己肯定感を高め、行動変容を促すマインドセット支援。スタッフが自ら考え動くチームを作る。</a:t>
            </a:r>
            <a:endParaRPr lang="en-US" sz="1000" dirty="0"/>
          </a:p>
        </p:txBody>
      </p:sp>
      <p:sp>
        <p:nvSpPr>
          <p:cNvPr id="14" name="Shape 12"/>
          <p:cNvSpPr/>
          <p:nvPr/>
        </p:nvSpPr>
        <p:spPr>
          <a:xfrm>
            <a:off x="457200" y="3108960"/>
            <a:ext cx="4023360" cy="1645920"/>
          </a:xfrm>
          <a:prstGeom prst="rect">
            <a:avLst/>
          </a:prstGeom>
          <a:solidFill>
            <a:srgbClr val="F5F7F5"/>
          </a:solidFill>
          <a:ln/>
          <a:effectLst>
            <a:outerShdw sx="100000" sy="100000" kx="0" ky="0" algn="bl" rotWithShape="0" blurRad="76200" dist="25400" dir="8100000">
              <a:srgbClr val="000000">
                <a:alpha val="12000"/>
              </a:srgbClr>
            </a:outerShdw>
          </a:effectLst>
        </p:spPr>
      </p:sp>
      <p:sp>
        <p:nvSpPr>
          <p:cNvPr id="15" name="Shape 13"/>
          <p:cNvSpPr/>
          <p:nvPr/>
        </p:nvSpPr>
        <p:spPr>
          <a:xfrm>
            <a:off x="640080" y="3291840"/>
            <a:ext cx="594360" cy="594360"/>
          </a:xfrm>
          <a:prstGeom prst="ellipse">
            <a:avLst/>
          </a:prstGeom>
          <a:solidFill>
            <a:srgbClr val="52B788"/>
          </a:solidFill>
          <a:ln/>
        </p:spPr>
      </p:sp>
      <p:sp>
        <p:nvSpPr>
          <p:cNvPr id="16" name="Text 14"/>
          <p:cNvSpPr/>
          <p:nvPr/>
        </p:nvSpPr>
        <p:spPr>
          <a:xfrm>
            <a:off x="640080" y="329184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17" name="Text 15"/>
          <p:cNvSpPr/>
          <p:nvPr/>
        </p:nvSpPr>
        <p:spPr>
          <a:xfrm>
            <a:off x="1417320" y="3291840"/>
            <a:ext cx="2834640"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独自システムで業務効率化</a:t>
            </a:r>
            <a:endParaRPr lang="en-US" sz="1400" dirty="0"/>
          </a:p>
        </p:txBody>
      </p:sp>
      <p:sp>
        <p:nvSpPr>
          <p:cNvPr id="18" name="Text 16"/>
          <p:cNvSpPr/>
          <p:nvPr/>
        </p:nvSpPr>
        <p:spPr>
          <a:xfrm>
            <a:off x="1417320" y="3703320"/>
            <a:ext cx="2834640" cy="86868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ARCH専用アプリで事務作業・ルート調整の工数を大幅削減。テクノロジーで現場の負担を軽減する。</a:t>
            </a:r>
            <a:endParaRPr lang="en-US" sz="1000" dirty="0"/>
          </a:p>
        </p:txBody>
      </p:sp>
      <p:sp>
        <p:nvSpPr>
          <p:cNvPr id="19" name="Shape 17"/>
          <p:cNvSpPr/>
          <p:nvPr/>
        </p:nvSpPr>
        <p:spPr>
          <a:xfrm>
            <a:off x="4754880" y="3108960"/>
            <a:ext cx="4023360" cy="1645920"/>
          </a:xfrm>
          <a:prstGeom prst="rect">
            <a:avLst/>
          </a:prstGeom>
          <a:solidFill>
            <a:srgbClr val="F5F7F5"/>
          </a:solidFill>
          <a:ln/>
          <a:effectLst>
            <a:outerShdw sx="100000" sy="100000" kx="0" ky="0" algn="bl" rotWithShape="0" blurRad="76200" dist="25400" dir="8100000">
              <a:srgbClr val="000000">
                <a:alpha val="12000"/>
              </a:srgbClr>
            </a:outerShdw>
          </a:effectLst>
        </p:spPr>
      </p:sp>
      <p:sp>
        <p:nvSpPr>
          <p:cNvPr id="20" name="Shape 18"/>
          <p:cNvSpPr/>
          <p:nvPr/>
        </p:nvSpPr>
        <p:spPr>
          <a:xfrm>
            <a:off x="4937760" y="3291840"/>
            <a:ext cx="594360" cy="594360"/>
          </a:xfrm>
          <a:prstGeom prst="ellipse">
            <a:avLst/>
          </a:prstGeom>
          <a:solidFill>
            <a:srgbClr val="52B788"/>
          </a:solidFill>
          <a:ln/>
        </p:spPr>
      </p:sp>
      <p:sp>
        <p:nvSpPr>
          <p:cNvPr id="21" name="Text 19"/>
          <p:cNvSpPr/>
          <p:nvPr/>
        </p:nvSpPr>
        <p:spPr>
          <a:xfrm>
            <a:off x="4937760" y="329184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04</a:t>
            </a:r>
            <a:endParaRPr lang="en-US" sz="1600" dirty="0"/>
          </a:p>
        </p:txBody>
      </p:sp>
      <p:sp>
        <p:nvSpPr>
          <p:cNvPr id="22" name="Text 20"/>
          <p:cNvSpPr/>
          <p:nvPr/>
        </p:nvSpPr>
        <p:spPr>
          <a:xfrm>
            <a:off x="5715000" y="3291840"/>
            <a:ext cx="2834640"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ワンストップの全方位サポート</a:t>
            </a:r>
            <a:endParaRPr lang="en-US" sz="1400" dirty="0"/>
          </a:p>
        </p:txBody>
      </p:sp>
      <p:sp>
        <p:nvSpPr>
          <p:cNvPr id="23" name="Text 21"/>
          <p:cNvSpPr/>
          <p:nvPr/>
        </p:nvSpPr>
        <p:spPr>
          <a:xfrm>
            <a:off x="5715000" y="3703320"/>
            <a:ext cx="2834640" cy="86868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導入・営業・運営・算定BPO・経営改善まで一気通貫で対応。複数の業者に依頼する手間とコストを削減。</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5"/>
        </a:solidFill>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indent="0" marL="0">
              <a:buNone/>
            </a:pPr>
            <a:r>
              <a:rPr lang="en-US" sz="1100" b="1" spc="600" kern="0" dirty="0">
                <a:solidFill>
                  <a:srgbClr val="52B788"/>
                </a:solidFill>
                <a:latin typeface="Arial" pitchFamily="34" charset="0"/>
                <a:ea typeface="Arial" pitchFamily="34" charset="-122"/>
                <a:cs typeface="Arial" pitchFamily="34" charset="-120"/>
              </a:rPr>
              <a:t>FLOW</a:t>
            </a:r>
            <a:endParaRPr lang="en-US" sz="1100" dirty="0"/>
          </a:p>
        </p:txBody>
      </p:sp>
      <p:sp>
        <p:nvSpPr>
          <p:cNvPr id="3" name="Text 1"/>
          <p:cNvSpPr/>
          <p:nvPr/>
        </p:nvSpPr>
        <p:spPr>
          <a:xfrm>
            <a:off x="548640" y="548640"/>
            <a:ext cx="73152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導入の流れ</a:t>
            </a:r>
            <a:endParaRPr lang="en-US" sz="2600" dirty="0"/>
          </a:p>
        </p:txBody>
      </p:sp>
      <p:sp>
        <p:nvSpPr>
          <p:cNvPr id="4" name="Shape 2"/>
          <p:cNvSpPr/>
          <p:nvPr/>
        </p:nvSpPr>
        <p:spPr>
          <a:xfrm>
            <a:off x="274320" y="1371600"/>
            <a:ext cx="201168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822960" y="1645920"/>
            <a:ext cx="914400" cy="914400"/>
          </a:xfrm>
          <a:prstGeom prst="ellipse">
            <a:avLst/>
          </a:prstGeom>
          <a:solidFill>
            <a:srgbClr val="52B788"/>
          </a:solidFill>
          <a:ln/>
        </p:spPr>
      </p:sp>
      <p:sp>
        <p:nvSpPr>
          <p:cNvPr id="6" name="Text 4"/>
          <p:cNvSpPr/>
          <p:nvPr/>
        </p:nvSpPr>
        <p:spPr>
          <a:xfrm>
            <a:off x="822960" y="1645920"/>
            <a:ext cx="9144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7" name="Text 5"/>
          <p:cNvSpPr/>
          <p:nvPr/>
        </p:nvSpPr>
        <p:spPr>
          <a:xfrm>
            <a:off x="274320" y="2743200"/>
            <a:ext cx="2011680" cy="274320"/>
          </a:xfrm>
          <a:prstGeom prst="rect">
            <a:avLst/>
          </a:prstGeom>
          <a:noFill/>
          <a:ln/>
        </p:spPr>
        <p:txBody>
          <a:bodyPr wrap="square" lIns="0" tIns="0" rIns="0" bIns="0" rtlCol="0" anchor="ctr"/>
          <a:lstStyle/>
          <a:p>
            <a:pPr algn="ctr" indent="0" marL="0">
              <a:buNone/>
            </a:pPr>
            <a:r>
              <a:rPr lang="en-US" sz="900" b="1" dirty="0">
                <a:solidFill>
                  <a:srgbClr val="52B788"/>
                </a:solidFill>
                <a:latin typeface="Arial" pitchFamily="34" charset="0"/>
                <a:ea typeface="Arial" pitchFamily="34" charset="-122"/>
                <a:cs typeface="Arial" pitchFamily="34" charset="-120"/>
              </a:rPr>
              <a:t>STEP 1</a:t>
            </a:r>
            <a:endParaRPr lang="en-US" sz="900" dirty="0"/>
          </a:p>
        </p:txBody>
      </p:sp>
      <p:sp>
        <p:nvSpPr>
          <p:cNvPr id="8" name="Text 6"/>
          <p:cNvSpPr/>
          <p:nvPr/>
        </p:nvSpPr>
        <p:spPr>
          <a:xfrm>
            <a:off x="274320" y="2971800"/>
            <a:ext cx="2011680" cy="36576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無料相談</a:t>
            </a:r>
            <a:endParaRPr lang="en-US" sz="1600" dirty="0"/>
          </a:p>
        </p:txBody>
      </p:sp>
      <p:sp>
        <p:nvSpPr>
          <p:cNvPr id="9" name="Text 7"/>
          <p:cNvSpPr/>
          <p:nvPr/>
        </p:nvSpPr>
        <p:spPr>
          <a:xfrm>
            <a:off x="457200" y="3383280"/>
            <a:ext cx="1645920" cy="731520"/>
          </a:xfrm>
          <a:prstGeom prst="rect">
            <a:avLst/>
          </a:prstGeom>
          <a:noFill/>
          <a:ln/>
        </p:spPr>
        <p:txBody>
          <a:bodyPr wrap="square" lIns="0" tIns="0" rIns="0" bIns="0" rtlCol="0" anchor="ctr"/>
          <a:lstStyle/>
          <a:p>
            <a:pPr algn="l" indent="0" marL="0">
              <a:buNone/>
            </a:pPr>
            <a:r>
              <a:rPr lang="en-US" sz="1000" dirty="0">
                <a:solidFill>
                  <a:srgbClr val="6B7280"/>
                </a:solidFill>
                <a:latin typeface="Arial" pitchFamily="34" charset="0"/>
                <a:ea typeface="Arial" pitchFamily="34" charset="-122"/>
                <a:cs typeface="Arial" pitchFamily="34" charset="-120"/>
              </a:rPr>
              <a:t>現状のヒアリングと課題整理。訪問歯科の可能性をご説明します。</a:t>
            </a:r>
            <a:endParaRPr lang="en-US" sz="1000" dirty="0"/>
          </a:p>
        </p:txBody>
      </p:sp>
      <p:sp>
        <p:nvSpPr>
          <p:cNvPr id="10" name="Shape 8"/>
          <p:cNvSpPr/>
          <p:nvPr/>
        </p:nvSpPr>
        <p:spPr>
          <a:xfrm>
            <a:off x="2286000" y="2834640"/>
            <a:ext cx="182880" cy="0"/>
          </a:xfrm>
          <a:prstGeom prst="line">
            <a:avLst/>
          </a:prstGeom>
          <a:noFill/>
          <a:ln w="25400">
            <a:solidFill>
              <a:srgbClr val="52B788"/>
            </a:solidFill>
            <a:prstDash val="solid"/>
          </a:ln>
        </p:spPr>
      </p:sp>
      <p:sp>
        <p:nvSpPr>
          <p:cNvPr id="11" name="Shape 9"/>
          <p:cNvSpPr/>
          <p:nvPr/>
        </p:nvSpPr>
        <p:spPr>
          <a:xfrm>
            <a:off x="2468880" y="1371600"/>
            <a:ext cx="201168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3017520" y="1645920"/>
            <a:ext cx="914400" cy="914400"/>
          </a:xfrm>
          <a:prstGeom prst="ellipse">
            <a:avLst/>
          </a:prstGeom>
          <a:solidFill>
            <a:srgbClr val="52B788"/>
          </a:solidFill>
          <a:ln/>
        </p:spPr>
      </p:sp>
      <p:sp>
        <p:nvSpPr>
          <p:cNvPr id="13" name="Text 11"/>
          <p:cNvSpPr/>
          <p:nvPr/>
        </p:nvSpPr>
        <p:spPr>
          <a:xfrm>
            <a:off x="3017520" y="1645920"/>
            <a:ext cx="9144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14" name="Text 12"/>
          <p:cNvSpPr/>
          <p:nvPr/>
        </p:nvSpPr>
        <p:spPr>
          <a:xfrm>
            <a:off x="2468880" y="2743200"/>
            <a:ext cx="2011680" cy="274320"/>
          </a:xfrm>
          <a:prstGeom prst="rect">
            <a:avLst/>
          </a:prstGeom>
          <a:noFill/>
          <a:ln/>
        </p:spPr>
        <p:txBody>
          <a:bodyPr wrap="square" lIns="0" tIns="0" rIns="0" bIns="0" rtlCol="0" anchor="ctr"/>
          <a:lstStyle/>
          <a:p>
            <a:pPr algn="ctr" indent="0" marL="0">
              <a:buNone/>
            </a:pPr>
            <a:r>
              <a:rPr lang="en-US" sz="900" b="1" dirty="0">
                <a:solidFill>
                  <a:srgbClr val="52B788"/>
                </a:solidFill>
                <a:latin typeface="Arial" pitchFamily="34" charset="0"/>
                <a:ea typeface="Arial" pitchFamily="34" charset="-122"/>
                <a:cs typeface="Arial" pitchFamily="34" charset="-120"/>
              </a:rPr>
              <a:t>STEP 2</a:t>
            </a:r>
            <a:endParaRPr lang="en-US" sz="900" dirty="0"/>
          </a:p>
        </p:txBody>
      </p:sp>
      <p:sp>
        <p:nvSpPr>
          <p:cNvPr id="15" name="Text 13"/>
          <p:cNvSpPr/>
          <p:nvPr/>
        </p:nvSpPr>
        <p:spPr>
          <a:xfrm>
            <a:off x="2468880" y="2971800"/>
            <a:ext cx="2011680" cy="36576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プラン提案</a:t>
            </a:r>
            <a:endParaRPr lang="en-US" sz="1600" dirty="0"/>
          </a:p>
        </p:txBody>
      </p:sp>
      <p:sp>
        <p:nvSpPr>
          <p:cNvPr id="16" name="Text 14"/>
          <p:cNvSpPr/>
          <p:nvPr/>
        </p:nvSpPr>
        <p:spPr>
          <a:xfrm>
            <a:off x="2651760" y="3383280"/>
            <a:ext cx="1645920" cy="731520"/>
          </a:xfrm>
          <a:prstGeom prst="rect">
            <a:avLst/>
          </a:prstGeom>
          <a:noFill/>
          <a:ln/>
        </p:spPr>
        <p:txBody>
          <a:bodyPr wrap="square" lIns="0" tIns="0" rIns="0" bIns="0" rtlCol="0" anchor="ctr"/>
          <a:lstStyle/>
          <a:p>
            <a:pPr algn="l" indent="0" marL="0">
              <a:buNone/>
            </a:pPr>
            <a:r>
              <a:rPr lang="en-US" sz="1000" dirty="0">
                <a:solidFill>
                  <a:srgbClr val="6B7280"/>
                </a:solidFill>
                <a:latin typeface="Arial" pitchFamily="34" charset="0"/>
                <a:ea typeface="Arial" pitchFamily="34" charset="-122"/>
                <a:cs typeface="Arial" pitchFamily="34" charset="-120"/>
              </a:rPr>
              <a:t>貴院の状況に最適なプランと具体的なロードマップをご提案。</a:t>
            </a:r>
            <a:endParaRPr lang="en-US" sz="1000" dirty="0"/>
          </a:p>
        </p:txBody>
      </p:sp>
      <p:sp>
        <p:nvSpPr>
          <p:cNvPr id="17" name="Shape 15"/>
          <p:cNvSpPr/>
          <p:nvPr/>
        </p:nvSpPr>
        <p:spPr>
          <a:xfrm>
            <a:off x="4480560" y="2834640"/>
            <a:ext cx="182880" cy="0"/>
          </a:xfrm>
          <a:prstGeom prst="line">
            <a:avLst/>
          </a:prstGeom>
          <a:noFill/>
          <a:ln w="25400">
            <a:solidFill>
              <a:srgbClr val="52B788"/>
            </a:solidFill>
            <a:prstDash val="solid"/>
          </a:ln>
        </p:spPr>
      </p:sp>
      <p:sp>
        <p:nvSpPr>
          <p:cNvPr id="18" name="Shape 16"/>
          <p:cNvSpPr/>
          <p:nvPr/>
        </p:nvSpPr>
        <p:spPr>
          <a:xfrm>
            <a:off x="4663440" y="1371600"/>
            <a:ext cx="201168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5212080" y="1645920"/>
            <a:ext cx="914400" cy="914400"/>
          </a:xfrm>
          <a:prstGeom prst="ellipse">
            <a:avLst/>
          </a:prstGeom>
          <a:solidFill>
            <a:srgbClr val="52B788"/>
          </a:solidFill>
          <a:ln/>
        </p:spPr>
      </p:sp>
      <p:sp>
        <p:nvSpPr>
          <p:cNvPr id="20" name="Text 18"/>
          <p:cNvSpPr/>
          <p:nvPr/>
        </p:nvSpPr>
        <p:spPr>
          <a:xfrm>
            <a:off x="5212080" y="1645920"/>
            <a:ext cx="9144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a:t>
            </a:r>
            <a:endParaRPr lang="en-US" sz="2800" dirty="0"/>
          </a:p>
        </p:txBody>
      </p:sp>
      <p:sp>
        <p:nvSpPr>
          <p:cNvPr id="21" name="Text 19"/>
          <p:cNvSpPr/>
          <p:nvPr/>
        </p:nvSpPr>
        <p:spPr>
          <a:xfrm>
            <a:off x="4663440" y="2743200"/>
            <a:ext cx="2011680" cy="274320"/>
          </a:xfrm>
          <a:prstGeom prst="rect">
            <a:avLst/>
          </a:prstGeom>
          <a:noFill/>
          <a:ln/>
        </p:spPr>
        <p:txBody>
          <a:bodyPr wrap="square" lIns="0" tIns="0" rIns="0" bIns="0" rtlCol="0" anchor="ctr"/>
          <a:lstStyle/>
          <a:p>
            <a:pPr algn="ctr" indent="0" marL="0">
              <a:buNone/>
            </a:pPr>
            <a:r>
              <a:rPr lang="en-US" sz="900" b="1" dirty="0">
                <a:solidFill>
                  <a:srgbClr val="52B788"/>
                </a:solidFill>
                <a:latin typeface="Arial" pitchFamily="34" charset="0"/>
                <a:ea typeface="Arial" pitchFamily="34" charset="-122"/>
                <a:cs typeface="Arial" pitchFamily="34" charset="-120"/>
              </a:rPr>
              <a:t>STEP 3</a:t>
            </a:r>
            <a:endParaRPr lang="en-US" sz="900" dirty="0"/>
          </a:p>
        </p:txBody>
      </p:sp>
      <p:sp>
        <p:nvSpPr>
          <p:cNvPr id="22" name="Text 20"/>
          <p:cNvSpPr/>
          <p:nvPr/>
        </p:nvSpPr>
        <p:spPr>
          <a:xfrm>
            <a:off x="4663440" y="2971800"/>
            <a:ext cx="2011680" cy="36576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導入開始</a:t>
            </a:r>
            <a:endParaRPr lang="en-US" sz="1600" dirty="0"/>
          </a:p>
        </p:txBody>
      </p:sp>
      <p:sp>
        <p:nvSpPr>
          <p:cNvPr id="23" name="Text 21"/>
          <p:cNvSpPr/>
          <p:nvPr/>
        </p:nvSpPr>
        <p:spPr>
          <a:xfrm>
            <a:off x="4846320" y="3383280"/>
            <a:ext cx="1645920" cy="731520"/>
          </a:xfrm>
          <a:prstGeom prst="rect">
            <a:avLst/>
          </a:prstGeom>
          <a:noFill/>
          <a:ln/>
        </p:spPr>
        <p:txBody>
          <a:bodyPr wrap="square" lIns="0" tIns="0" rIns="0" bIns="0" rtlCol="0" anchor="ctr"/>
          <a:lstStyle/>
          <a:p>
            <a:pPr algn="l" indent="0" marL="0">
              <a:buNone/>
            </a:pPr>
            <a:r>
              <a:rPr lang="en-US" sz="1000" dirty="0">
                <a:solidFill>
                  <a:srgbClr val="6B7280"/>
                </a:solidFill>
                <a:latin typeface="Arial" pitchFamily="34" charset="0"/>
                <a:ea typeface="Arial" pitchFamily="34" charset="-122"/>
                <a:cs typeface="Arial" pitchFamily="34" charset="-120"/>
              </a:rPr>
              <a:t>システム導入・営業研修・施設営業の準備を並行して実施。</a:t>
            </a:r>
            <a:endParaRPr lang="en-US" sz="1000" dirty="0"/>
          </a:p>
        </p:txBody>
      </p:sp>
      <p:sp>
        <p:nvSpPr>
          <p:cNvPr id="24" name="Shape 22"/>
          <p:cNvSpPr/>
          <p:nvPr/>
        </p:nvSpPr>
        <p:spPr>
          <a:xfrm>
            <a:off x="6675120" y="2834640"/>
            <a:ext cx="182880" cy="0"/>
          </a:xfrm>
          <a:prstGeom prst="line">
            <a:avLst/>
          </a:prstGeom>
          <a:noFill/>
          <a:ln w="25400">
            <a:solidFill>
              <a:srgbClr val="52B788"/>
            </a:solidFill>
            <a:prstDash val="solid"/>
          </a:ln>
        </p:spPr>
      </p:sp>
      <p:sp>
        <p:nvSpPr>
          <p:cNvPr id="25" name="Shape 23"/>
          <p:cNvSpPr/>
          <p:nvPr/>
        </p:nvSpPr>
        <p:spPr>
          <a:xfrm>
            <a:off x="6858000" y="1371600"/>
            <a:ext cx="201168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6" name="Shape 24"/>
          <p:cNvSpPr/>
          <p:nvPr/>
        </p:nvSpPr>
        <p:spPr>
          <a:xfrm>
            <a:off x="7406640" y="1645920"/>
            <a:ext cx="914400" cy="914400"/>
          </a:xfrm>
          <a:prstGeom prst="ellipse">
            <a:avLst/>
          </a:prstGeom>
          <a:solidFill>
            <a:srgbClr val="52B788"/>
          </a:solidFill>
          <a:ln/>
        </p:spPr>
      </p:sp>
      <p:sp>
        <p:nvSpPr>
          <p:cNvPr id="27" name="Text 25"/>
          <p:cNvSpPr/>
          <p:nvPr/>
        </p:nvSpPr>
        <p:spPr>
          <a:xfrm>
            <a:off x="7406640" y="1645920"/>
            <a:ext cx="9144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28" name="Text 26"/>
          <p:cNvSpPr/>
          <p:nvPr/>
        </p:nvSpPr>
        <p:spPr>
          <a:xfrm>
            <a:off x="6858000" y="2743200"/>
            <a:ext cx="2011680" cy="274320"/>
          </a:xfrm>
          <a:prstGeom prst="rect">
            <a:avLst/>
          </a:prstGeom>
          <a:noFill/>
          <a:ln/>
        </p:spPr>
        <p:txBody>
          <a:bodyPr wrap="square" lIns="0" tIns="0" rIns="0" bIns="0" rtlCol="0" anchor="ctr"/>
          <a:lstStyle/>
          <a:p>
            <a:pPr algn="ctr" indent="0" marL="0">
              <a:buNone/>
            </a:pPr>
            <a:r>
              <a:rPr lang="en-US" sz="900" b="1" dirty="0">
                <a:solidFill>
                  <a:srgbClr val="52B788"/>
                </a:solidFill>
                <a:latin typeface="Arial" pitchFamily="34" charset="0"/>
                <a:ea typeface="Arial" pitchFamily="34" charset="-122"/>
                <a:cs typeface="Arial" pitchFamily="34" charset="-120"/>
              </a:rPr>
              <a:t>STEP 4</a:t>
            </a:r>
            <a:endParaRPr lang="en-US" sz="900" dirty="0"/>
          </a:p>
        </p:txBody>
      </p:sp>
      <p:sp>
        <p:nvSpPr>
          <p:cNvPr id="29" name="Text 27"/>
          <p:cNvSpPr/>
          <p:nvPr/>
        </p:nvSpPr>
        <p:spPr>
          <a:xfrm>
            <a:off x="6858000" y="2971800"/>
            <a:ext cx="2011680" cy="36576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伴走・改善</a:t>
            </a:r>
            <a:endParaRPr lang="en-US" sz="1600" dirty="0"/>
          </a:p>
        </p:txBody>
      </p:sp>
      <p:sp>
        <p:nvSpPr>
          <p:cNvPr id="30" name="Text 28"/>
          <p:cNvSpPr/>
          <p:nvPr/>
        </p:nvSpPr>
        <p:spPr>
          <a:xfrm>
            <a:off x="7040880" y="3383280"/>
            <a:ext cx="1645920" cy="731520"/>
          </a:xfrm>
          <a:prstGeom prst="rect">
            <a:avLst/>
          </a:prstGeom>
          <a:noFill/>
          <a:ln/>
        </p:spPr>
        <p:txBody>
          <a:bodyPr wrap="square" lIns="0" tIns="0" rIns="0" bIns="0" rtlCol="0" anchor="ctr"/>
          <a:lstStyle/>
          <a:p>
            <a:pPr algn="l" indent="0" marL="0">
              <a:buNone/>
            </a:pPr>
            <a:r>
              <a:rPr lang="en-US" sz="1000" dirty="0">
                <a:solidFill>
                  <a:srgbClr val="6B7280"/>
                </a:solidFill>
                <a:latin typeface="Arial" pitchFamily="34" charset="0"/>
                <a:ea typeface="Arial" pitchFamily="34" charset="-122"/>
                <a:cs typeface="Arial" pitchFamily="34" charset="-120"/>
              </a:rPr>
              <a:t>定期MTGで進捗確認。データに基づく継続的な改善サイクルを回す。</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52B788"/>
          </a:solidFill>
          <a:ln/>
        </p:spPr>
      </p:sp>
      <p:sp>
        <p:nvSpPr>
          <p:cNvPr id="3" name="Text 1"/>
          <p:cNvSpPr/>
          <p:nvPr/>
        </p:nvSpPr>
        <p:spPr>
          <a:xfrm>
            <a:off x="731520" y="914400"/>
            <a:ext cx="777240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お問い合わせ・無料相談</a:t>
            </a:r>
            <a:endParaRPr lang="en-US" sz="3000" dirty="0"/>
          </a:p>
        </p:txBody>
      </p:sp>
      <p:sp>
        <p:nvSpPr>
          <p:cNvPr id="4" name="Text 2"/>
          <p:cNvSpPr/>
          <p:nvPr/>
        </p:nvSpPr>
        <p:spPr>
          <a:xfrm>
            <a:off x="731520" y="1737360"/>
            <a:ext cx="6400800" cy="731520"/>
          </a:xfrm>
          <a:prstGeom prst="rect">
            <a:avLst/>
          </a:prstGeom>
          <a:noFill/>
          <a:ln/>
        </p:spPr>
        <p:txBody>
          <a:bodyPr wrap="square" lIns="0" tIns="0" rIns="0" bIns="0" rtlCol="0" anchor="ctr"/>
          <a:lstStyle/>
          <a:p>
            <a:pPr indent="0" marL="0">
              <a:buNone/>
            </a:pPr>
            <a:r>
              <a:rPr lang="en-US" sz="1400" dirty="0">
                <a:solidFill>
                  <a:srgbClr val="B7E4C7"/>
                </a:solidFill>
                <a:latin typeface="Arial" pitchFamily="34" charset="0"/>
                <a:ea typeface="Arial" pitchFamily="34" charset="-122"/>
                <a:cs typeface="Arial" pitchFamily="34" charset="-120"/>
              </a:rPr>
              <a:t>訪問歯科の立ち上げ、既存事業の改善、営業力強化など、</a:t>
            </a:r>
            <a:endParaRPr lang="en-US" sz="1400" dirty="0"/>
          </a:p>
          <a:p>
            <a:pPr indent="0" marL="0">
              <a:buNone/>
            </a:pPr>
            <a:r>
              <a:rPr lang="en-US" sz="1400" dirty="0">
                <a:solidFill>
                  <a:srgbClr val="B7E4C7"/>
                </a:solidFill>
                <a:latin typeface="Arial" pitchFamily="34" charset="0"/>
                <a:ea typeface="Arial" pitchFamily="34" charset="-122"/>
                <a:cs typeface="Arial" pitchFamily="34" charset="-120"/>
              </a:rPr>
              <a:t>どんなご相談でもお気軽にお問い合わせください。</a:t>
            </a:r>
            <a:endParaRPr lang="en-US" sz="1400" dirty="0"/>
          </a:p>
        </p:txBody>
      </p:sp>
      <p:sp>
        <p:nvSpPr>
          <p:cNvPr id="5" name="Shape 3"/>
          <p:cNvSpPr/>
          <p:nvPr/>
        </p:nvSpPr>
        <p:spPr>
          <a:xfrm>
            <a:off x="731520" y="2743200"/>
            <a:ext cx="2286000" cy="0"/>
          </a:xfrm>
          <a:prstGeom prst="line">
            <a:avLst/>
          </a:prstGeom>
          <a:noFill/>
          <a:ln w="25400">
            <a:solidFill>
              <a:srgbClr val="52B788"/>
            </a:solidFill>
            <a:prstDash val="solid"/>
          </a:ln>
        </p:spPr>
      </p:sp>
      <p:sp>
        <p:nvSpPr>
          <p:cNvPr id="6" name="Text 4"/>
          <p:cNvSpPr/>
          <p:nvPr/>
        </p:nvSpPr>
        <p:spPr>
          <a:xfrm>
            <a:off x="731520" y="3017520"/>
            <a:ext cx="4572000" cy="16459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合同会社ARCH</a:t>
            </a:r>
            <a:endParaRPr lang="en-US" sz="1600" dirty="0"/>
          </a:p>
          <a:p>
            <a:pPr indent="0" marL="0">
              <a:buNone/>
            </a:pPr>
            <a:r>
              <a:rPr lang="en-US" sz="1200" dirty="0">
                <a:solidFill>
                  <a:srgbClr val="B7E4C7"/>
                </a:solidFill>
                <a:latin typeface="Arial" pitchFamily="34" charset="0"/>
                <a:ea typeface="Arial" pitchFamily="34" charset="-122"/>
                <a:cs typeface="Arial" pitchFamily="34" charset="-120"/>
              </a:rPr>
              <a:t>代表  鈴木 集</a:t>
            </a:r>
            <a:endParaRPr lang="en-US" sz="1600" dirty="0"/>
          </a:p>
          <a:p>
            <a:pPr indent="0" marL="0">
              <a:buNone/>
            </a:pPr>
            <a:endParaRPr lang="en-US" sz="1600" dirty="0"/>
          </a:p>
          <a:p>
            <a:pPr indent="0" marL="0">
              <a:buNone/>
            </a:pPr>
            <a:r>
              <a:rPr lang="en-US" sz="1100" dirty="0">
                <a:solidFill>
                  <a:srgbClr val="B7E4C7"/>
                </a:solidFill>
                <a:latin typeface="Arial" pitchFamily="34" charset="0"/>
                <a:ea typeface="Arial" pitchFamily="34" charset="-122"/>
                <a:cs typeface="Arial" pitchFamily="34" charset="-120"/>
              </a:rPr>
              <a:t>URL: https://www.arch-yh.com</a:t>
            </a:r>
            <a:endParaRPr lang="en-US" sz="1600" dirty="0"/>
          </a:p>
          <a:p>
            <a:pPr indent="0" marL="0">
              <a:buNone/>
            </a:pPr>
            <a:r>
              <a:rPr lang="en-US" sz="1100" dirty="0">
                <a:solidFill>
                  <a:srgbClr val="B7E4C7"/>
                </a:solidFill>
                <a:latin typeface="Arial" pitchFamily="34" charset="0"/>
                <a:ea typeface="Arial" pitchFamily="34" charset="-122"/>
                <a:cs typeface="Arial" pitchFamily="34" charset="-120"/>
              </a:rPr>
              <a:t>Email: atsumu.suzuki@arch-yh.com</a:t>
            </a:r>
            <a:endParaRPr lang="en-US" sz="1600" dirty="0"/>
          </a:p>
        </p:txBody>
      </p:sp>
      <p:sp>
        <p:nvSpPr>
          <p:cNvPr id="7" name="Text 5"/>
          <p:cNvSpPr/>
          <p:nvPr/>
        </p:nvSpPr>
        <p:spPr>
          <a:xfrm>
            <a:off x="731520" y="4663440"/>
            <a:ext cx="3657600" cy="274320"/>
          </a:xfrm>
          <a:prstGeom prst="rect">
            <a:avLst/>
          </a:prstGeom>
          <a:noFill/>
          <a:ln/>
        </p:spPr>
        <p:txBody>
          <a:bodyPr wrap="square" lIns="0" tIns="0" rIns="0" bIns="0" rtlCol="0" anchor="ctr"/>
          <a:lstStyle/>
          <a:p>
            <a:pPr indent="0" marL="0">
              <a:buNone/>
            </a:pPr>
            <a:r>
              <a:rPr lang="en-US" sz="800" dirty="0">
                <a:solidFill>
                  <a:srgbClr val="9CA3AF"/>
                </a:solidFill>
                <a:latin typeface="Arial" pitchFamily="34" charset="0"/>
                <a:ea typeface="Arial" pitchFamily="34" charset="-122"/>
                <a:cs typeface="Arial" pitchFamily="34" charset="-120"/>
              </a:rPr>
              <a:t>© 合同会社ARCH All rights reserved.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訪問歯科コンサルティング 営業提案資料</dc:title>
  <dc:subject>PptxGenJS Presentation</dc:subject>
  <dc:creator>合同会社ARCH</dc:creator>
  <cp:lastModifiedBy>合同会社ARCH</cp:lastModifiedBy>
  <cp:revision>1</cp:revision>
  <dcterms:created xsi:type="dcterms:W3CDTF">2026-04-06T08:57:44Z</dcterms:created>
  <dcterms:modified xsi:type="dcterms:W3CDTF">2026-04-06T08:57:44Z</dcterms:modified>
</cp:coreProperties>
</file>