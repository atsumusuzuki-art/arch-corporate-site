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4572000" cy="731520"/>
          </a:xfrm>
          <a:prstGeom prst="rect">
            <a:avLst/>
          </a:prstGeom>
          <a:noFill/>
        </p:spPr>
        <p:txBody>
          <a:bodyPr wrap="square"/>
          <a:lstStyle/>
          <a:p>
            <a:pPr algn="l">
              <a:defRPr sz="2200" b="1">
                <a:solidFill>
                  <a:srgbClr val="9CA3AF"/>
                </a:solidFill>
                <a:latin typeface="Arial Black"/>
              </a:defRPr>
            </a:pPr>
            <a:r>
              <a:t>ARCH</a:t>
            </a:r>
          </a:p>
        </p:txBody>
      </p:sp>
      <p:sp>
        <p:nvSpPr>
          <p:cNvPr id="5" name="TextBox 4"/>
          <p:cNvSpPr txBox="1"/>
          <p:nvPr/>
        </p:nvSpPr>
        <p:spPr>
          <a:xfrm>
            <a:off x="731520" y="1417320"/>
            <a:ext cx="4572000" cy="457200"/>
          </a:xfrm>
          <a:prstGeom prst="rect">
            <a:avLst/>
          </a:prstGeom>
          <a:noFill/>
        </p:spPr>
        <p:txBody>
          <a:bodyPr wrap="square"/>
          <a:lstStyle/>
          <a:p>
            <a:pPr algn="l">
              <a:defRPr sz="1000" b="0">
                <a:solidFill>
                  <a:srgbClr val="9CA3AF"/>
                </a:solidFill>
                <a:latin typeface="Calibri"/>
              </a:defRPr>
            </a:pPr>
            <a:r>
              <a:t>アーチ</a:t>
            </a:r>
          </a:p>
        </p:txBody>
      </p:sp>
      <p:sp>
        <p:nvSpPr>
          <p:cNvPr id="6" name="TextBox 5"/>
          <p:cNvSpPr txBox="1"/>
          <p:nvPr/>
        </p:nvSpPr>
        <p:spPr>
          <a:xfrm>
            <a:off x="731520" y="2377440"/>
            <a:ext cx="10058400" cy="1097280"/>
          </a:xfrm>
          <a:prstGeom prst="rect">
            <a:avLst/>
          </a:prstGeom>
          <a:noFill/>
        </p:spPr>
        <p:txBody>
          <a:bodyPr wrap="square"/>
          <a:lstStyle/>
          <a:p>
            <a:pPr algn="l">
              <a:defRPr sz="4000" b="1">
                <a:solidFill>
                  <a:srgbClr val="FFFFFF"/>
                </a:solidFill>
                <a:latin typeface="Calibri"/>
              </a:defRPr>
            </a:pPr>
            <a:r>
              <a:t>施設の「現場」と「経営」に寄り添う</a:t>
            </a:r>
            <a:br/>
            <a:r>
              <a:t>訪問歯科コンサルティング</a:t>
            </a:r>
          </a:p>
        </p:txBody>
      </p:sp>
      <p:sp>
        <p:nvSpPr>
          <p:cNvPr id="7" name="TextBox 6"/>
          <p:cNvSpPr txBox="1"/>
          <p:nvPr/>
        </p:nvSpPr>
        <p:spPr>
          <a:xfrm>
            <a:off x="731520" y="3931920"/>
            <a:ext cx="9144000" cy="731520"/>
          </a:xfrm>
          <a:prstGeom prst="rect">
            <a:avLst/>
          </a:prstGeom>
          <a:noFill/>
        </p:spPr>
        <p:txBody>
          <a:bodyPr wrap="square"/>
          <a:lstStyle/>
          <a:p>
            <a:pPr algn="l">
              <a:defRPr sz="1800" b="0">
                <a:solidFill>
                  <a:srgbClr val="9CA3AF"/>
                </a:solidFill>
                <a:latin typeface="Calibri"/>
              </a:defRPr>
            </a:pPr>
            <a:r>
              <a:t>── 介護施設様との情報交換・ご挨拶資料 ──</a:t>
            </a:r>
          </a:p>
        </p:txBody>
      </p:sp>
      <p:sp>
        <p:nvSpPr>
          <p:cNvPr id="8" name="TextBox 7"/>
          <p:cNvSpPr txBox="1"/>
          <p:nvPr/>
        </p:nvSpPr>
        <p:spPr>
          <a:xfrm>
            <a:off x="731520" y="5029200"/>
            <a:ext cx="5486400" cy="365760"/>
          </a:xfrm>
          <a:prstGeom prst="rect">
            <a:avLst/>
          </a:prstGeom>
          <a:noFill/>
        </p:spPr>
        <p:txBody>
          <a:bodyPr wrap="square"/>
          <a:lstStyle/>
          <a:p>
            <a:pPr algn="l">
              <a:defRPr sz="1400" b="0">
                <a:solidFill>
                  <a:srgbClr val="9CA3AF"/>
                </a:solidFill>
                <a:latin typeface="Calibri"/>
              </a:defRPr>
            </a:pPr>
            <a:r>
              <a:t>合同会社ARCH　代表　鈴木 集</a:t>
            </a:r>
          </a:p>
        </p:txBody>
      </p:sp>
      <p:sp>
        <p:nvSpPr>
          <p:cNvPr id="9" name="TextBox 8"/>
          <p:cNvSpPr txBox="1"/>
          <p:nvPr/>
        </p:nvSpPr>
        <p:spPr>
          <a:xfrm>
            <a:off x="731520" y="5486400"/>
            <a:ext cx="5486400" cy="365760"/>
          </a:xfrm>
          <a:prstGeom prst="rect">
            <a:avLst/>
          </a:prstGeom>
          <a:noFill/>
        </p:spPr>
        <p:txBody>
          <a:bodyPr wrap="square"/>
          <a:lstStyle/>
          <a:p>
            <a:pPr algn="l">
              <a:defRPr sz="1200" b="0">
                <a:solidFill>
                  <a:srgbClr val="6EE7B7"/>
                </a:solidFill>
                <a:latin typeface="Calibri"/>
              </a:defRPr>
            </a:pPr>
            <a:r>
              <a:t>https://www.arch-yh.com</a:t>
            </a:r>
          </a:p>
        </p:txBody>
      </p:sp>
      <p:sp>
        <p:nvSpPr>
          <p:cNvPr id="10" name="Rectangle 9"/>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601968"/>
            <a:ext cx="5486400" cy="228600"/>
          </a:xfrm>
          <a:prstGeom prst="rect">
            <a:avLst/>
          </a:prstGeom>
          <a:noFill/>
        </p:spPr>
        <p:txBody>
          <a:bodyPr wrap="square"/>
          <a:lstStyle/>
          <a:p>
            <a:pPr algn="l">
              <a:defRPr sz="1000" b="1">
                <a:solidFill>
                  <a:srgbClr val="FFFFFF"/>
                </a:solidFill>
                <a:latin typeface="Calibri"/>
              </a:defRPr>
            </a:pPr>
            <a:r>
              <a:t>合同会社ARCH</a:t>
            </a:r>
          </a:p>
        </p:txBody>
      </p:sp>
      <p:sp>
        <p:nvSpPr>
          <p:cNvPr id="12" name="TextBox 11"/>
          <p:cNvSpPr txBox="1"/>
          <p:nvPr/>
        </p:nvSpPr>
        <p:spPr>
          <a:xfrm>
            <a:off x="9601200" y="914400"/>
            <a:ext cx="2286000" cy="457200"/>
          </a:xfrm>
          <a:prstGeom prst="rect">
            <a:avLst/>
          </a:prstGeom>
          <a:noFill/>
        </p:spPr>
        <p:txBody>
          <a:bodyPr wrap="square"/>
          <a:lstStyle/>
          <a:p>
            <a:pPr algn="r">
              <a:defRPr sz="1200" b="0">
                <a:solidFill>
                  <a:srgbClr val="9CA3AF"/>
                </a:solidFill>
                <a:latin typeface="Calibri"/>
              </a:defRPr>
            </a:pPr>
            <a:r>
              <a:t>[ ロゴ画像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TODAY'S AGENDA</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本日のご挨拶の趣旨</a:t>
            </a:r>
          </a:p>
        </p:txBody>
      </p:sp>
      <p:sp>
        <p:nvSpPr>
          <p:cNvPr id="6" name="TextBox 5"/>
          <p:cNvSpPr txBox="1"/>
          <p:nvPr/>
        </p:nvSpPr>
        <p:spPr>
          <a:xfrm>
            <a:off x="731520" y="1645920"/>
            <a:ext cx="10515600" cy="914400"/>
          </a:xfrm>
          <a:prstGeom prst="rect">
            <a:avLst/>
          </a:prstGeom>
          <a:noFill/>
        </p:spPr>
        <p:txBody>
          <a:bodyPr wrap="square"/>
          <a:lstStyle/>
          <a:p>
            <a:pPr algn="l">
              <a:defRPr sz="1600" b="0">
                <a:solidFill>
                  <a:srgbClr val="4B5563"/>
                </a:solidFill>
                <a:latin typeface="Calibri"/>
              </a:defRPr>
            </a:pPr>
            <a:r>
              <a:t>本日は貴重なお時間をいただき、ありがとうございます。</a:t>
            </a:r>
            <a:br/>
            <a:r>
              <a:t>「営業」ではなく、施設現場の課題について率直な意見交換をさせていただければ幸いです。</a:t>
            </a:r>
          </a:p>
        </p:txBody>
      </p:sp>
      <p:sp>
        <p:nvSpPr>
          <p:cNvPr id="7" name="Oval 6"/>
          <p:cNvSpPr/>
          <p:nvPr/>
        </p:nvSpPr>
        <p:spPr>
          <a:xfrm>
            <a:off x="731520" y="2971800"/>
            <a:ext cx="502920" cy="5029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3017520"/>
            <a:ext cx="502920" cy="411480"/>
          </a:xfrm>
          <a:prstGeom prst="rect">
            <a:avLst/>
          </a:prstGeom>
          <a:noFill/>
        </p:spPr>
        <p:txBody>
          <a:bodyPr wrap="square"/>
          <a:lstStyle/>
          <a:p>
            <a:pPr algn="ctr">
              <a:defRPr sz="1600" b="1">
                <a:solidFill>
                  <a:srgbClr val="FFFFFF"/>
                </a:solidFill>
                <a:latin typeface="Calibri"/>
              </a:defRPr>
            </a:pPr>
            <a:r>
              <a:t>01</a:t>
            </a:r>
          </a:p>
        </p:txBody>
      </p:sp>
      <p:sp>
        <p:nvSpPr>
          <p:cNvPr id="9" name="TextBox 8"/>
          <p:cNvSpPr txBox="1"/>
          <p:nvPr/>
        </p:nvSpPr>
        <p:spPr>
          <a:xfrm>
            <a:off x="1463040" y="2926080"/>
            <a:ext cx="3657600" cy="457200"/>
          </a:xfrm>
          <a:prstGeom prst="rect">
            <a:avLst/>
          </a:prstGeom>
          <a:noFill/>
        </p:spPr>
        <p:txBody>
          <a:bodyPr wrap="square"/>
          <a:lstStyle/>
          <a:p>
            <a:pPr algn="l">
              <a:defRPr sz="1800" b="1">
                <a:solidFill>
                  <a:srgbClr val="111827"/>
                </a:solidFill>
                <a:latin typeface="Calibri"/>
              </a:defRPr>
            </a:pPr>
            <a:r>
              <a:t>施設の現場課題の共有</a:t>
            </a:r>
          </a:p>
        </p:txBody>
      </p:sp>
      <p:sp>
        <p:nvSpPr>
          <p:cNvPr id="10" name="TextBox 9"/>
          <p:cNvSpPr txBox="1"/>
          <p:nvPr/>
        </p:nvSpPr>
        <p:spPr>
          <a:xfrm>
            <a:off x="5303520" y="2926080"/>
            <a:ext cx="5943600" cy="822960"/>
          </a:xfrm>
          <a:prstGeom prst="rect">
            <a:avLst/>
          </a:prstGeom>
          <a:noFill/>
        </p:spPr>
        <p:txBody>
          <a:bodyPr wrap="square"/>
          <a:lstStyle/>
          <a:p>
            <a:pPr algn="l">
              <a:defRPr sz="1300" b="0">
                <a:solidFill>
                  <a:srgbClr val="4B5563"/>
                </a:solidFill>
                <a:latin typeface="Calibri"/>
              </a:defRPr>
            </a:pPr>
            <a:r>
              <a:t>口腔ケアの負担、書類作成、スタッフ離職…</a:t>
            </a:r>
            <a:br/>
            <a:r>
              <a:t>施設様が日々抱える課題について、お話を伺いたい</a:t>
            </a:r>
          </a:p>
        </p:txBody>
      </p:sp>
      <p:sp>
        <p:nvSpPr>
          <p:cNvPr id="11" name="Oval 10"/>
          <p:cNvSpPr/>
          <p:nvPr/>
        </p:nvSpPr>
        <p:spPr>
          <a:xfrm>
            <a:off x="731520" y="4206240"/>
            <a:ext cx="502920" cy="5029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251960"/>
            <a:ext cx="502920" cy="411480"/>
          </a:xfrm>
          <a:prstGeom prst="rect">
            <a:avLst/>
          </a:prstGeom>
          <a:noFill/>
        </p:spPr>
        <p:txBody>
          <a:bodyPr wrap="square"/>
          <a:lstStyle/>
          <a:p>
            <a:pPr algn="ctr">
              <a:defRPr sz="1600" b="1">
                <a:solidFill>
                  <a:srgbClr val="FFFFFF"/>
                </a:solidFill>
                <a:latin typeface="Calibri"/>
              </a:defRPr>
            </a:pPr>
            <a:r>
              <a:t>02</a:t>
            </a:r>
          </a:p>
        </p:txBody>
      </p:sp>
      <p:sp>
        <p:nvSpPr>
          <p:cNvPr id="13" name="TextBox 12"/>
          <p:cNvSpPr txBox="1"/>
          <p:nvPr/>
        </p:nvSpPr>
        <p:spPr>
          <a:xfrm>
            <a:off x="1463040" y="4160520"/>
            <a:ext cx="3657600" cy="457200"/>
          </a:xfrm>
          <a:prstGeom prst="rect">
            <a:avLst/>
          </a:prstGeom>
          <a:noFill/>
        </p:spPr>
        <p:txBody>
          <a:bodyPr wrap="square"/>
          <a:lstStyle/>
          <a:p>
            <a:pPr algn="l">
              <a:defRPr sz="1800" b="1">
                <a:solidFill>
                  <a:srgbClr val="111827"/>
                </a:solidFill>
                <a:latin typeface="Calibri"/>
              </a:defRPr>
            </a:pPr>
            <a:r>
              <a:t>訪問歯科の「質」の問題提起</a:t>
            </a:r>
          </a:p>
        </p:txBody>
      </p:sp>
      <p:sp>
        <p:nvSpPr>
          <p:cNvPr id="14" name="TextBox 13"/>
          <p:cNvSpPr txBox="1"/>
          <p:nvPr/>
        </p:nvSpPr>
        <p:spPr>
          <a:xfrm>
            <a:off x="5303520" y="4160520"/>
            <a:ext cx="5943600" cy="822960"/>
          </a:xfrm>
          <a:prstGeom prst="rect">
            <a:avLst/>
          </a:prstGeom>
          <a:noFill/>
        </p:spPr>
        <p:txBody>
          <a:bodyPr wrap="square"/>
          <a:lstStyle/>
          <a:p>
            <a:pPr algn="l">
              <a:defRPr sz="1300" b="0">
                <a:solidFill>
                  <a:srgbClr val="4B5563"/>
                </a:solidFill>
                <a:latin typeface="Calibri"/>
              </a:defRPr>
            </a:pPr>
            <a:r>
              <a:t>すべての訪問歯科が同じではないこと、</a:t>
            </a:r>
            <a:br/>
            <a:r>
              <a:t>施設様にとって本当に助かる訪問歯科とは何かを共有したい</a:t>
            </a:r>
          </a:p>
        </p:txBody>
      </p:sp>
      <p:sp>
        <p:nvSpPr>
          <p:cNvPr id="15" name="Oval 14"/>
          <p:cNvSpPr/>
          <p:nvPr/>
        </p:nvSpPr>
        <p:spPr>
          <a:xfrm>
            <a:off x="731520" y="5440680"/>
            <a:ext cx="502920" cy="5029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5486400"/>
            <a:ext cx="502920" cy="411480"/>
          </a:xfrm>
          <a:prstGeom prst="rect">
            <a:avLst/>
          </a:prstGeom>
          <a:noFill/>
        </p:spPr>
        <p:txBody>
          <a:bodyPr wrap="square"/>
          <a:lstStyle/>
          <a:p>
            <a:pPr algn="ctr">
              <a:defRPr sz="1600" b="1">
                <a:solidFill>
                  <a:srgbClr val="FFFFFF"/>
                </a:solidFill>
                <a:latin typeface="Calibri"/>
              </a:defRPr>
            </a:pPr>
            <a:r>
              <a:t>03</a:t>
            </a:r>
          </a:p>
        </p:txBody>
      </p:sp>
      <p:sp>
        <p:nvSpPr>
          <p:cNvPr id="17" name="TextBox 16"/>
          <p:cNvSpPr txBox="1"/>
          <p:nvPr/>
        </p:nvSpPr>
        <p:spPr>
          <a:xfrm>
            <a:off x="1463040" y="5394960"/>
            <a:ext cx="3657600" cy="457200"/>
          </a:xfrm>
          <a:prstGeom prst="rect">
            <a:avLst/>
          </a:prstGeom>
          <a:noFill/>
        </p:spPr>
        <p:txBody>
          <a:bodyPr wrap="square"/>
          <a:lstStyle/>
          <a:p>
            <a:pPr algn="l">
              <a:defRPr sz="1800" b="1">
                <a:solidFill>
                  <a:srgbClr val="111827"/>
                </a:solidFill>
                <a:latin typeface="Calibri"/>
              </a:defRPr>
            </a:pPr>
            <a:r>
              <a:t>ARCHの取り組みのご紹介</a:t>
            </a:r>
          </a:p>
        </p:txBody>
      </p:sp>
      <p:sp>
        <p:nvSpPr>
          <p:cNvPr id="18" name="TextBox 17"/>
          <p:cNvSpPr txBox="1"/>
          <p:nvPr/>
        </p:nvSpPr>
        <p:spPr>
          <a:xfrm>
            <a:off x="5303520" y="5394960"/>
            <a:ext cx="5943600" cy="822960"/>
          </a:xfrm>
          <a:prstGeom prst="rect">
            <a:avLst/>
          </a:prstGeom>
          <a:noFill/>
        </p:spPr>
        <p:txBody>
          <a:bodyPr wrap="square"/>
          <a:lstStyle/>
          <a:p>
            <a:pPr algn="l">
              <a:defRPr sz="1300" b="0">
                <a:solidFill>
                  <a:srgbClr val="4B5563"/>
                </a:solidFill>
                <a:latin typeface="Calibri"/>
              </a:defRPr>
            </a:pPr>
            <a:r>
              <a:t>私たちが歯科医院をどのように指導し、</a:t>
            </a:r>
            <a:br/>
            <a:r>
              <a:t>その結果が施設様にどう還元されるかをお伝えしたい</a:t>
            </a:r>
          </a:p>
        </p:txBody>
      </p:sp>
      <p:sp>
        <p:nvSpPr>
          <p:cNvPr id="19" name="Rectangle 18"/>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OUR POSITION</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ARCHの立ち位置 ── 医療と介護の架け橋</a:t>
            </a:r>
          </a:p>
        </p:txBody>
      </p:sp>
      <p:sp>
        <p:nvSpPr>
          <p:cNvPr id="6" name="TextBox 5"/>
          <p:cNvSpPr txBox="1"/>
          <p:nvPr/>
        </p:nvSpPr>
        <p:spPr>
          <a:xfrm>
            <a:off x="731520" y="1554480"/>
            <a:ext cx="10515600" cy="548640"/>
          </a:xfrm>
          <a:prstGeom prst="rect">
            <a:avLst/>
          </a:prstGeom>
          <a:noFill/>
        </p:spPr>
        <p:txBody>
          <a:bodyPr wrap="square"/>
          <a:lstStyle/>
          <a:p>
            <a:pPr algn="l">
              <a:defRPr sz="1500" b="0">
                <a:solidFill>
                  <a:srgbClr val="4B5563"/>
                </a:solidFill>
                <a:latin typeface="Calibri"/>
              </a:defRPr>
            </a:pPr>
            <a:r>
              <a:t>ARCHは「歯科医院のコンサル会社」ではありません。施設・患者・歯科医院の「三方良し」を実現するための会社です。</a:t>
            </a:r>
          </a:p>
        </p:txBody>
      </p:sp>
      <p:sp>
        <p:nvSpPr>
          <p:cNvPr id="7" name="Rounded Rectangle 6"/>
          <p:cNvSpPr/>
          <p:nvPr/>
        </p:nvSpPr>
        <p:spPr>
          <a:xfrm>
            <a:off x="1828800" y="2560320"/>
            <a:ext cx="2926080" cy="32918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0" y="2560320"/>
            <a:ext cx="2926080" cy="9144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880360" y="2834639"/>
            <a:ext cx="822960" cy="82296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2926079"/>
            <a:ext cx="822960" cy="640080"/>
          </a:xfrm>
          <a:prstGeom prst="rect">
            <a:avLst/>
          </a:prstGeom>
          <a:noFill/>
        </p:spPr>
        <p:txBody>
          <a:bodyPr wrap="square"/>
          <a:lstStyle/>
          <a:p>
            <a:pPr algn="ctr">
              <a:defRPr sz="2400" b="1">
                <a:solidFill>
                  <a:srgbClr val="FFFFFF"/>
                </a:solidFill>
                <a:latin typeface="Calibri"/>
              </a:defRPr>
            </a:pPr>
            <a:r>
              <a:t>介</a:t>
            </a:r>
          </a:p>
        </p:txBody>
      </p:sp>
      <p:sp>
        <p:nvSpPr>
          <p:cNvPr id="11" name="TextBox 10"/>
          <p:cNvSpPr txBox="1"/>
          <p:nvPr/>
        </p:nvSpPr>
        <p:spPr>
          <a:xfrm>
            <a:off x="2103120" y="3840479"/>
            <a:ext cx="2377440" cy="457200"/>
          </a:xfrm>
          <a:prstGeom prst="rect">
            <a:avLst/>
          </a:prstGeom>
          <a:noFill/>
        </p:spPr>
        <p:txBody>
          <a:bodyPr wrap="square"/>
          <a:lstStyle/>
          <a:p>
            <a:pPr algn="ctr">
              <a:defRPr sz="1800" b="1">
                <a:solidFill>
                  <a:srgbClr val="111827"/>
                </a:solidFill>
                <a:latin typeface="Calibri"/>
              </a:defRPr>
            </a:pPr>
            <a:r>
              <a:t>介護施設</a:t>
            </a:r>
          </a:p>
        </p:txBody>
      </p:sp>
      <p:sp>
        <p:nvSpPr>
          <p:cNvPr id="12" name="TextBox 11"/>
          <p:cNvSpPr txBox="1"/>
          <p:nvPr/>
        </p:nvSpPr>
        <p:spPr>
          <a:xfrm>
            <a:off x="2103120" y="4389120"/>
            <a:ext cx="2377440" cy="1280160"/>
          </a:xfrm>
          <a:prstGeom prst="rect">
            <a:avLst/>
          </a:prstGeom>
          <a:noFill/>
        </p:spPr>
        <p:txBody>
          <a:bodyPr wrap="square"/>
          <a:lstStyle/>
          <a:p>
            <a:pPr algn="ctr">
              <a:defRPr sz="1200" b="0">
                <a:solidFill>
                  <a:srgbClr val="4B5563"/>
                </a:solidFill>
                <a:latin typeface="Calibri"/>
              </a:defRPr>
            </a:pPr>
            <a:r>
              <a:t>事務負担の軽減</a:t>
            </a:r>
            <a:br/>
            <a:r>
              <a:t>スタッフの専門知識向上</a:t>
            </a:r>
            <a:br/>
            <a:r>
              <a:t>入所者の健康維持</a:t>
            </a:r>
          </a:p>
        </p:txBody>
      </p:sp>
      <p:sp>
        <p:nvSpPr>
          <p:cNvPr id="13" name="Rounded Rectangle 12"/>
          <p:cNvSpPr/>
          <p:nvPr/>
        </p:nvSpPr>
        <p:spPr>
          <a:xfrm>
            <a:off x="5029200" y="2560320"/>
            <a:ext cx="2926080" cy="32918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0" y="2560320"/>
            <a:ext cx="2926080" cy="91440"/>
          </a:xfrm>
          <a:prstGeom prst="rect">
            <a:avLst/>
          </a:prstGeom>
          <a:solidFill>
            <a:srgbClr val="0E7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80760" y="2834639"/>
            <a:ext cx="822960" cy="822960"/>
          </a:xfrm>
          <a:prstGeom prst="ellipse">
            <a:avLst/>
          </a:prstGeom>
          <a:solidFill>
            <a:srgbClr val="0E7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2926079"/>
            <a:ext cx="822960" cy="640080"/>
          </a:xfrm>
          <a:prstGeom prst="rect">
            <a:avLst/>
          </a:prstGeom>
          <a:noFill/>
        </p:spPr>
        <p:txBody>
          <a:bodyPr wrap="square"/>
          <a:lstStyle/>
          <a:p>
            <a:pPr algn="ctr">
              <a:defRPr sz="2400" b="1">
                <a:solidFill>
                  <a:srgbClr val="FFFFFF"/>
                </a:solidFill>
                <a:latin typeface="Calibri"/>
              </a:defRPr>
            </a:pPr>
            <a:r>
              <a:t>入</a:t>
            </a:r>
          </a:p>
        </p:txBody>
      </p:sp>
      <p:sp>
        <p:nvSpPr>
          <p:cNvPr id="17" name="TextBox 16"/>
          <p:cNvSpPr txBox="1"/>
          <p:nvPr/>
        </p:nvSpPr>
        <p:spPr>
          <a:xfrm>
            <a:off x="5303520" y="3840479"/>
            <a:ext cx="2377440" cy="457200"/>
          </a:xfrm>
          <a:prstGeom prst="rect">
            <a:avLst/>
          </a:prstGeom>
          <a:noFill/>
        </p:spPr>
        <p:txBody>
          <a:bodyPr wrap="square"/>
          <a:lstStyle/>
          <a:p>
            <a:pPr algn="ctr">
              <a:defRPr sz="1800" b="1">
                <a:solidFill>
                  <a:srgbClr val="111827"/>
                </a:solidFill>
                <a:latin typeface="Calibri"/>
              </a:defRPr>
            </a:pPr>
            <a:r>
              <a:t>入所者・患者様</a:t>
            </a:r>
          </a:p>
        </p:txBody>
      </p:sp>
      <p:sp>
        <p:nvSpPr>
          <p:cNvPr id="18" name="TextBox 17"/>
          <p:cNvSpPr txBox="1"/>
          <p:nvPr/>
        </p:nvSpPr>
        <p:spPr>
          <a:xfrm>
            <a:off x="5303520" y="4389120"/>
            <a:ext cx="2377440" cy="1280160"/>
          </a:xfrm>
          <a:prstGeom prst="rect">
            <a:avLst/>
          </a:prstGeom>
          <a:noFill/>
        </p:spPr>
        <p:txBody>
          <a:bodyPr wrap="square"/>
          <a:lstStyle/>
          <a:p>
            <a:pPr algn="ctr">
              <a:defRPr sz="1200" b="0">
                <a:solidFill>
                  <a:srgbClr val="4B5563"/>
                </a:solidFill>
                <a:latin typeface="Calibri"/>
              </a:defRPr>
            </a:pPr>
            <a:r>
              <a:t>誤嚥性肺炎の予防</a:t>
            </a:r>
            <a:br/>
            <a:r>
              <a:t>食事の質の維持</a:t>
            </a:r>
            <a:br/>
            <a:r>
              <a:t>QOL（生活の質）の向上</a:t>
            </a:r>
          </a:p>
        </p:txBody>
      </p:sp>
      <p:sp>
        <p:nvSpPr>
          <p:cNvPr id="19" name="Rounded Rectangle 18"/>
          <p:cNvSpPr/>
          <p:nvPr/>
        </p:nvSpPr>
        <p:spPr>
          <a:xfrm>
            <a:off x="8229600" y="2560320"/>
            <a:ext cx="2926080" cy="32918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2560320"/>
            <a:ext cx="2926080" cy="9144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81160" y="2834639"/>
            <a:ext cx="822960" cy="82296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2926079"/>
            <a:ext cx="822960" cy="640080"/>
          </a:xfrm>
          <a:prstGeom prst="rect">
            <a:avLst/>
          </a:prstGeom>
          <a:noFill/>
        </p:spPr>
        <p:txBody>
          <a:bodyPr wrap="square"/>
          <a:lstStyle/>
          <a:p>
            <a:pPr algn="ctr">
              <a:defRPr sz="2400" b="1">
                <a:solidFill>
                  <a:srgbClr val="FFFFFF"/>
                </a:solidFill>
                <a:latin typeface="Calibri"/>
              </a:defRPr>
            </a:pPr>
            <a:r>
              <a:t>歯</a:t>
            </a:r>
          </a:p>
        </p:txBody>
      </p:sp>
      <p:sp>
        <p:nvSpPr>
          <p:cNvPr id="23" name="TextBox 22"/>
          <p:cNvSpPr txBox="1"/>
          <p:nvPr/>
        </p:nvSpPr>
        <p:spPr>
          <a:xfrm>
            <a:off x="8503920" y="3840479"/>
            <a:ext cx="2377440" cy="457200"/>
          </a:xfrm>
          <a:prstGeom prst="rect">
            <a:avLst/>
          </a:prstGeom>
          <a:noFill/>
        </p:spPr>
        <p:txBody>
          <a:bodyPr wrap="square"/>
          <a:lstStyle/>
          <a:p>
            <a:pPr algn="ctr">
              <a:defRPr sz="1800" b="1">
                <a:solidFill>
                  <a:srgbClr val="111827"/>
                </a:solidFill>
                <a:latin typeface="Calibri"/>
              </a:defRPr>
            </a:pPr>
            <a:r>
              <a:t>歯科医院</a:t>
            </a:r>
          </a:p>
        </p:txBody>
      </p:sp>
      <p:sp>
        <p:nvSpPr>
          <p:cNvPr id="24" name="TextBox 23"/>
          <p:cNvSpPr txBox="1"/>
          <p:nvPr/>
        </p:nvSpPr>
        <p:spPr>
          <a:xfrm>
            <a:off x="8503920" y="4389120"/>
            <a:ext cx="2377440" cy="1280160"/>
          </a:xfrm>
          <a:prstGeom prst="rect">
            <a:avLst/>
          </a:prstGeom>
          <a:noFill/>
        </p:spPr>
        <p:txBody>
          <a:bodyPr wrap="square"/>
          <a:lstStyle/>
          <a:p>
            <a:pPr algn="ctr">
              <a:defRPr sz="1200" b="0">
                <a:solidFill>
                  <a:srgbClr val="4B5563"/>
                </a:solidFill>
                <a:latin typeface="Calibri"/>
              </a:defRPr>
            </a:pPr>
            <a:r>
              <a:t>質の高い訪問歯科の実現</a:t>
            </a:r>
            <a:br/>
            <a:r>
              <a:t>算定漏れゼロの体制</a:t>
            </a:r>
            <a:br/>
            <a:r>
              <a:t>現場力と収益力の両立</a:t>
            </a:r>
          </a:p>
        </p:txBody>
      </p:sp>
      <p:sp>
        <p:nvSpPr>
          <p:cNvPr id="25" name="TextBox 24"/>
          <p:cNvSpPr txBox="1"/>
          <p:nvPr/>
        </p:nvSpPr>
        <p:spPr>
          <a:xfrm>
            <a:off x="4114800" y="3840480"/>
            <a:ext cx="1371600" cy="457200"/>
          </a:xfrm>
          <a:prstGeom prst="rect">
            <a:avLst/>
          </a:prstGeom>
          <a:noFill/>
        </p:spPr>
        <p:txBody>
          <a:bodyPr wrap="square"/>
          <a:lstStyle/>
          <a:p>
            <a:pPr algn="ctr">
              <a:defRPr sz="1400" b="1">
                <a:solidFill>
                  <a:srgbClr val="166534"/>
                </a:solidFill>
                <a:latin typeface="Calibri"/>
              </a:defRPr>
            </a:pPr>
            <a:r>
              <a:t>◀━━▶</a:t>
            </a:r>
          </a:p>
        </p:txBody>
      </p:sp>
      <p:sp>
        <p:nvSpPr>
          <p:cNvPr id="26" name="TextBox 25"/>
          <p:cNvSpPr txBox="1"/>
          <p:nvPr/>
        </p:nvSpPr>
        <p:spPr>
          <a:xfrm>
            <a:off x="7315200" y="3840480"/>
            <a:ext cx="1371600" cy="457200"/>
          </a:xfrm>
          <a:prstGeom prst="rect">
            <a:avLst/>
          </a:prstGeom>
          <a:noFill/>
        </p:spPr>
        <p:txBody>
          <a:bodyPr wrap="square"/>
          <a:lstStyle/>
          <a:p>
            <a:pPr algn="ctr">
              <a:defRPr sz="1400" b="1">
                <a:solidFill>
                  <a:srgbClr val="166534"/>
                </a:solidFill>
                <a:latin typeface="Calibri"/>
              </a:defRPr>
            </a:pPr>
            <a:r>
              <a:t>◀━━▶</a:t>
            </a:r>
          </a:p>
        </p:txBody>
      </p:sp>
      <p:sp>
        <p:nvSpPr>
          <p:cNvPr id="27" name="Rounded Rectangle 26"/>
          <p:cNvSpPr/>
          <p:nvPr/>
        </p:nvSpPr>
        <p:spPr>
          <a:xfrm>
            <a:off x="4389120" y="5303520"/>
            <a:ext cx="3383280" cy="822960"/>
          </a:xfrm>
          <a:prstGeom prst="roundRect">
            <a:avLst/>
          </a:prstGeom>
          <a:solidFill>
            <a:srgbClr val="166534"/>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0" y="5394960"/>
            <a:ext cx="3383280" cy="640080"/>
          </a:xfrm>
          <a:prstGeom prst="rect">
            <a:avLst/>
          </a:prstGeom>
          <a:noFill/>
        </p:spPr>
        <p:txBody>
          <a:bodyPr wrap="square"/>
          <a:lstStyle/>
          <a:p>
            <a:pPr algn="ctr">
              <a:defRPr sz="1400" b="1">
                <a:solidFill>
                  <a:srgbClr val="FFFFFF"/>
                </a:solidFill>
                <a:latin typeface="Calibri"/>
              </a:defRPr>
            </a:pPr>
            <a:r>
              <a:t>ARCH が「三方良し」を設計</a:t>
            </a:r>
          </a:p>
        </p:txBody>
      </p:sp>
      <p:sp>
        <p:nvSpPr>
          <p:cNvPr id="29" name="Rectangle 28"/>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HIDDEN CHALLENGES</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介護施設様が抱える「見えない課題」</a:t>
            </a:r>
          </a:p>
        </p:txBody>
      </p:sp>
      <p:sp>
        <p:nvSpPr>
          <p:cNvPr id="6" name="TextBox 5"/>
          <p:cNvSpPr txBox="1"/>
          <p:nvPr/>
        </p:nvSpPr>
        <p:spPr>
          <a:xfrm>
            <a:off x="731520" y="1554480"/>
            <a:ext cx="10515600" cy="457200"/>
          </a:xfrm>
          <a:prstGeom prst="rect">
            <a:avLst/>
          </a:prstGeom>
          <a:noFill/>
        </p:spPr>
        <p:txBody>
          <a:bodyPr wrap="square"/>
          <a:lstStyle/>
          <a:p>
            <a:pPr algn="l">
              <a:defRPr sz="1400" b="0">
                <a:solidFill>
                  <a:srgbClr val="4B5563"/>
                </a:solidFill>
                <a:latin typeface="Calibri"/>
              </a:defRPr>
            </a:pPr>
            <a:r>
              <a:t>施設の経営トップの方々からよく伺う声をまとめました。御施設でも心当たりはございませんか？</a:t>
            </a:r>
          </a:p>
        </p:txBody>
      </p:sp>
      <p:sp>
        <p:nvSpPr>
          <p:cNvPr id="7" name="Rounded Rectangle 6"/>
          <p:cNvSpPr/>
          <p:nvPr/>
        </p:nvSpPr>
        <p:spPr>
          <a:xfrm>
            <a:off x="731520" y="2286000"/>
            <a:ext cx="10972800" cy="12801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86000"/>
            <a:ext cx="109728" cy="12801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2743200" cy="914400"/>
          </a:xfrm>
          <a:prstGeom prst="rect">
            <a:avLst/>
          </a:prstGeom>
          <a:noFill/>
        </p:spPr>
        <p:txBody>
          <a:bodyPr wrap="square"/>
          <a:lstStyle/>
          <a:p>
            <a:pPr algn="l">
              <a:defRPr sz="1600" b="1">
                <a:solidFill>
                  <a:srgbClr val="111827"/>
                </a:solidFill>
                <a:latin typeface="Calibri"/>
              </a:defRPr>
            </a:pPr>
            <a:r>
              <a:t>歯科加算に伴う</a:t>
            </a:r>
            <a:br/>
            <a:r>
              <a:t>書類作成の負担</a:t>
            </a:r>
          </a:p>
        </p:txBody>
      </p:sp>
      <p:sp>
        <p:nvSpPr>
          <p:cNvPr id="10" name="TextBox 9"/>
          <p:cNvSpPr txBox="1"/>
          <p:nvPr/>
        </p:nvSpPr>
        <p:spPr>
          <a:xfrm>
            <a:off x="4114800" y="2423160"/>
            <a:ext cx="7132320" cy="1005840"/>
          </a:xfrm>
          <a:prstGeom prst="rect">
            <a:avLst/>
          </a:prstGeom>
          <a:noFill/>
        </p:spPr>
        <p:txBody>
          <a:bodyPr wrap="square"/>
          <a:lstStyle/>
          <a:p>
            <a:pPr algn="l">
              <a:defRPr sz="1300" b="0">
                <a:solidFill>
                  <a:srgbClr val="4B5563"/>
                </a:solidFill>
                <a:latin typeface="Calibri"/>
              </a:defRPr>
            </a:pPr>
            <a:r>
              <a:t>口腔衛生管理加算等の算定に必要な計画書・報告書の作成が、</a:t>
            </a:r>
            <a:br/>
            <a:r>
              <a:t>介護スタッフの本来業務を圧迫。作成ルールも複雑で、</a:t>
            </a:r>
            <a:br/>
            <a:r>
              <a:t>手間の割に加算額が見合わないという声も。</a:t>
            </a:r>
          </a:p>
        </p:txBody>
      </p:sp>
      <p:sp>
        <p:nvSpPr>
          <p:cNvPr id="11" name="Rounded Rectangle 10"/>
          <p:cNvSpPr/>
          <p:nvPr/>
        </p:nvSpPr>
        <p:spPr>
          <a:xfrm>
            <a:off x="731520" y="3749039"/>
            <a:ext cx="10972800" cy="12801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749039"/>
            <a:ext cx="109728" cy="12801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86200"/>
            <a:ext cx="2743200" cy="914400"/>
          </a:xfrm>
          <a:prstGeom prst="rect">
            <a:avLst/>
          </a:prstGeom>
          <a:noFill/>
        </p:spPr>
        <p:txBody>
          <a:bodyPr wrap="square"/>
          <a:lstStyle/>
          <a:p>
            <a:pPr algn="l">
              <a:defRPr sz="1600" b="1">
                <a:solidFill>
                  <a:srgbClr val="111827"/>
                </a:solidFill>
                <a:latin typeface="Calibri"/>
              </a:defRPr>
            </a:pPr>
            <a:r>
              <a:t>口腔ケア業務による</a:t>
            </a:r>
            <a:br/>
            <a:r>
              <a:t>スタッフの疲弊</a:t>
            </a:r>
          </a:p>
        </p:txBody>
      </p:sp>
      <p:sp>
        <p:nvSpPr>
          <p:cNvPr id="14" name="TextBox 13"/>
          <p:cNvSpPr txBox="1"/>
          <p:nvPr/>
        </p:nvSpPr>
        <p:spPr>
          <a:xfrm>
            <a:off x="4114800" y="3886200"/>
            <a:ext cx="7132320" cy="1005840"/>
          </a:xfrm>
          <a:prstGeom prst="rect">
            <a:avLst/>
          </a:prstGeom>
          <a:noFill/>
        </p:spPr>
        <p:txBody>
          <a:bodyPr wrap="square"/>
          <a:lstStyle/>
          <a:p>
            <a:pPr algn="l">
              <a:defRPr sz="1300" b="0">
                <a:solidFill>
                  <a:srgbClr val="4B5563"/>
                </a:solidFill>
                <a:latin typeface="Calibri"/>
              </a:defRPr>
            </a:pPr>
            <a:r>
              <a:t>重度化する入所者の日常的な口腔ケアは、介護職員にとって</a:t>
            </a:r>
            <a:br/>
            <a:r>
              <a:t>身体的にも精神的にも大きな負担。専門知識が十分でないまま</a:t>
            </a:r>
            <a:br/>
            <a:r>
              <a:t>対応せざるを得ない現状が、離職リスクにも直結。</a:t>
            </a:r>
          </a:p>
        </p:txBody>
      </p:sp>
      <p:sp>
        <p:nvSpPr>
          <p:cNvPr id="15" name="Rounded Rectangle 14"/>
          <p:cNvSpPr/>
          <p:nvPr/>
        </p:nvSpPr>
        <p:spPr>
          <a:xfrm>
            <a:off x="731520" y="5212080"/>
            <a:ext cx="10972800" cy="12801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212080"/>
            <a:ext cx="109728" cy="12801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349240"/>
            <a:ext cx="2743200" cy="914400"/>
          </a:xfrm>
          <a:prstGeom prst="rect">
            <a:avLst/>
          </a:prstGeom>
          <a:noFill/>
        </p:spPr>
        <p:txBody>
          <a:bodyPr wrap="square"/>
          <a:lstStyle/>
          <a:p>
            <a:pPr algn="l">
              <a:defRPr sz="1600" b="1">
                <a:solidFill>
                  <a:srgbClr val="111827"/>
                </a:solidFill>
                <a:latin typeface="Calibri"/>
              </a:defRPr>
            </a:pPr>
            <a:r>
              <a:t>訪問歯科の「質」に</a:t>
            </a:r>
            <a:br/>
            <a:r>
              <a:t>関する不安</a:t>
            </a:r>
          </a:p>
        </p:txBody>
      </p:sp>
      <p:sp>
        <p:nvSpPr>
          <p:cNvPr id="18" name="TextBox 17"/>
          <p:cNvSpPr txBox="1"/>
          <p:nvPr/>
        </p:nvSpPr>
        <p:spPr>
          <a:xfrm>
            <a:off x="4114800" y="5349240"/>
            <a:ext cx="7132320" cy="1005840"/>
          </a:xfrm>
          <a:prstGeom prst="rect">
            <a:avLst/>
          </a:prstGeom>
          <a:noFill/>
        </p:spPr>
        <p:txBody>
          <a:bodyPr wrap="square"/>
          <a:lstStyle/>
          <a:p>
            <a:pPr algn="l">
              <a:defRPr sz="1300" b="0">
                <a:solidFill>
                  <a:srgbClr val="4B5563"/>
                </a:solidFill>
                <a:latin typeface="Calibri"/>
              </a:defRPr>
            </a:pPr>
            <a:r>
              <a:t>訪問歯科を受け入れたものの、来るだけで施設との連携がない、</a:t>
            </a:r>
            <a:br/>
            <a:r>
              <a:t>書類対応も施設任せ…という経験はありませんか？</a:t>
            </a:r>
            <a:br/>
            <a:r>
              <a:t>質の低い訪問歯科は、施設の負担をむしろ増やします。</a:t>
            </a:r>
          </a:p>
        </p:txBody>
      </p:sp>
      <p:sp>
        <p:nvSpPr>
          <p:cNvPr id="19" name="Rectangle 18"/>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VALUE FOR FACILITIES</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ARCHが支援する訪問歯科が施設にもたらす価値</a:t>
            </a:r>
          </a:p>
        </p:txBody>
      </p:sp>
      <p:sp>
        <p:nvSpPr>
          <p:cNvPr id="6" name="Rounded Rectangle 5"/>
          <p:cNvSpPr/>
          <p:nvPr/>
        </p:nvSpPr>
        <p:spPr>
          <a:xfrm>
            <a:off x="731520" y="1554480"/>
            <a:ext cx="10698480" cy="822960"/>
          </a:xfrm>
          <a:prstGeom prst="roundRect">
            <a:avLst/>
          </a:prstGeom>
          <a:solidFill>
            <a:srgbClr val="DCFCE7"/>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45920"/>
            <a:ext cx="10058400" cy="640080"/>
          </a:xfrm>
          <a:prstGeom prst="rect">
            <a:avLst/>
          </a:prstGeom>
          <a:noFill/>
        </p:spPr>
        <p:txBody>
          <a:bodyPr wrap="square"/>
          <a:lstStyle/>
          <a:p>
            <a:pPr algn="ctr">
              <a:defRPr sz="1500" b="1">
                <a:solidFill>
                  <a:srgbClr val="166534"/>
                </a:solidFill>
                <a:latin typeface="Calibri"/>
              </a:defRPr>
            </a:pPr>
            <a:r>
              <a:t>最も重要なポイント：施設様のご費用負担は一切ありません。訪問歯科は保険診療のため、患者様個人の保険で賄われます。</a:t>
            </a:r>
          </a:p>
        </p:txBody>
      </p:sp>
      <p:sp>
        <p:nvSpPr>
          <p:cNvPr id="8" name="Rounded Rectangle 7"/>
          <p:cNvSpPr/>
          <p:nvPr/>
        </p:nvSpPr>
        <p:spPr>
          <a:xfrm>
            <a:off x="731520" y="2743200"/>
            <a:ext cx="5303520" cy="16459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971800"/>
            <a:ext cx="502920" cy="5029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017520"/>
            <a:ext cx="502920" cy="411480"/>
          </a:xfrm>
          <a:prstGeom prst="rect">
            <a:avLst/>
          </a:prstGeom>
          <a:noFill/>
        </p:spPr>
        <p:txBody>
          <a:bodyPr wrap="square"/>
          <a:lstStyle/>
          <a:p>
            <a:pPr algn="ctr">
              <a:defRPr sz="1400" b="1">
                <a:solidFill>
                  <a:srgbClr val="FFFFFF"/>
                </a:solidFill>
                <a:latin typeface="Calibri"/>
              </a:defRPr>
            </a:pPr>
            <a:r>
              <a:t>01</a:t>
            </a:r>
          </a:p>
        </p:txBody>
      </p:sp>
      <p:sp>
        <p:nvSpPr>
          <p:cNvPr id="11" name="TextBox 10"/>
          <p:cNvSpPr txBox="1"/>
          <p:nvPr/>
        </p:nvSpPr>
        <p:spPr>
          <a:xfrm>
            <a:off x="1737360" y="2926080"/>
            <a:ext cx="2011680" cy="731520"/>
          </a:xfrm>
          <a:prstGeom prst="rect">
            <a:avLst/>
          </a:prstGeom>
          <a:noFill/>
        </p:spPr>
        <p:txBody>
          <a:bodyPr wrap="square"/>
          <a:lstStyle/>
          <a:p>
            <a:pPr algn="l">
              <a:defRPr sz="1500" b="1">
                <a:solidFill>
                  <a:srgbClr val="111827"/>
                </a:solidFill>
                <a:latin typeface="Calibri"/>
              </a:defRPr>
            </a:pPr>
            <a:r>
              <a:t>算定BPOで</a:t>
            </a:r>
            <a:br/>
            <a:r>
              <a:t>事務負担ゼロ化</a:t>
            </a:r>
          </a:p>
        </p:txBody>
      </p:sp>
      <p:sp>
        <p:nvSpPr>
          <p:cNvPr id="12" name="TextBox 11"/>
          <p:cNvSpPr txBox="1"/>
          <p:nvPr/>
        </p:nvSpPr>
        <p:spPr>
          <a:xfrm>
            <a:off x="1737360" y="3611880"/>
            <a:ext cx="3840480" cy="640080"/>
          </a:xfrm>
          <a:prstGeom prst="rect">
            <a:avLst/>
          </a:prstGeom>
          <a:noFill/>
        </p:spPr>
        <p:txBody>
          <a:bodyPr wrap="square"/>
          <a:lstStyle/>
          <a:p>
            <a:pPr algn="l">
              <a:defRPr sz="1100" b="0">
                <a:solidFill>
                  <a:srgbClr val="4B5563"/>
                </a:solidFill>
                <a:latin typeface="Calibri"/>
              </a:defRPr>
            </a:pPr>
            <a:r>
              <a:t>口腔衛生管理加算等に必要な書類作成を、ARCHが指導する歯科医院側が全面代行。施設スタッフの事務負担をゼロに近づけます。</a:t>
            </a:r>
          </a:p>
        </p:txBody>
      </p:sp>
      <p:sp>
        <p:nvSpPr>
          <p:cNvPr id="13" name="Rounded Rectangle 12"/>
          <p:cNvSpPr/>
          <p:nvPr/>
        </p:nvSpPr>
        <p:spPr>
          <a:xfrm>
            <a:off x="6400800" y="2743200"/>
            <a:ext cx="5303520" cy="16459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0" y="2971800"/>
            <a:ext cx="502920" cy="502920"/>
          </a:xfrm>
          <a:prstGeom prst="ellipse">
            <a:avLst/>
          </a:prstGeom>
          <a:solidFill>
            <a:srgbClr val="0E7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3017520"/>
            <a:ext cx="502920" cy="411480"/>
          </a:xfrm>
          <a:prstGeom prst="rect">
            <a:avLst/>
          </a:prstGeom>
          <a:noFill/>
        </p:spPr>
        <p:txBody>
          <a:bodyPr wrap="square"/>
          <a:lstStyle/>
          <a:p>
            <a:pPr algn="ctr">
              <a:defRPr sz="1400" b="1">
                <a:solidFill>
                  <a:srgbClr val="FFFFFF"/>
                </a:solidFill>
                <a:latin typeface="Calibri"/>
              </a:defRPr>
            </a:pPr>
            <a:r>
              <a:t>02</a:t>
            </a:r>
          </a:p>
        </p:txBody>
      </p:sp>
      <p:sp>
        <p:nvSpPr>
          <p:cNvPr id="16" name="TextBox 15"/>
          <p:cNvSpPr txBox="1"/>
          <p:nvPr/>
        </p:nvSpPr>
        <p:spPr>
          <a:xfrm>
            <a:off x="7406640" y="2926080"/>
            <a:ext cx="2011680" cy="731520"/>
          </a:xfrm>
          <a:prstGeom prst="rect">
            <a:avLst/>
          </a:prstGeom>
          <a:noFill/>
        </p:spPr>
        <p:txBody>
          <a:bodyPr wrap="square"/>
          <a:lstStyle/>
          <a:p>
            <a:pPr algn="l">
              <a:defRPr sz="1500" b="1">
                <a:solidFill>
                  <a:srgbClr val="111827"/>
                </a:solidFill>
                <a:latin typeface="Calibri"/>
              </a:defRPr>
            </a:pPr>
            <a:r>
              <a:t>介護スタッフへの</a:t>
            </a:r>
            <a:br/>
            <a:r>
              <a:t>口腔ケア指導</a:t>
            </a:r>
          </a:p>
        </p:txBody>
      </p:sp>
      <p:sp>
        <p:nvSpPr>
          <p:cNvPr id="17" name="TextBox 16"/>
          <p:cNvSpPr txBox="1"/>
          <p:nvPr/>
        </p:nvSpPr>
        <p:spPr>
          <a:xfrm>
            <a:off x="7406640" y="3611880"/>
            <a:ext cx="3840480" cy="640080"/>
          </a:xfrm>
          <a:prstGeom prst="rect">
            <a:avLst/>
          </a:prstGeom>
          <a:noFill/>
        </p:spPr>
        <p:txBody>
          <a:bodyPr wrap="square"/>
          <a:lstStyle/>
          <a:p>
            <a:pPr algn="l">
              <a:defRPr sz="1100" b="0">
                <a:solidFill>
                  <a:srgbClr val="4B5563"/>
                </a:solidFill>
                <a:latin typeface="Calibri"/>
              </a:defRPr>
            </a:pPr>
            <a:r>
              <a:t>歯科衛生士が施設に定期訪問し、介護職員への実践的な口腔ケア研修を実施。スタッフの不安を解消し、日々のケアの質と自信を向上させます。</a:t>
            </a:r>
          </a:p>
        </p:txBody>
      </p:sp>
      <p:sp>
        <p:nvSpPr>
          <p:cNvPr id="18" name="Rounded Rectangle 17"/>
          <p:cNvSpPr/>
          <p:nvPr/>
        </p:nvSpPr>
        <p:spPr>
          <a:xfrm>
            <a:off x="731520" y="4663440"/>
            <a:ext cx="5303520" cy="16459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4892040"/>
            <a:ext cx="502920" cy="502920"/>
          </a:xfrm>
          <a:prstGeom prst="ellipse">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937759"/>
            <a:ext cx="502920" cy="411480"/>
          </a:xfrm>
          <a:prstGeom prst="rect">
            <a:avLst/>
          </a:prstGeom>
          <a:noFill/>
        </p:spPr>
        <p:txBody>
          <a:bodyPr wrap="square"/>
          <a:lstStyle/>
          <a:p>
            <a:pPr algn="ctr">
              <a:defRPr sz="1400" b="1">
                <a:solidFill>
                  <a:srgbClr val="FFFFFF"/>
                </a:solidFill>
                <a:latin typeface="Calibri"/>
              </a:defRPr>
            </a:pPr>
            <a:r>
              <a:t>03</a:t>
            </a:r>
          </a:p>
        </p:txBody>
      </p:sp>
      <p:sp>
        <p:nvSpPr>
          <p:cNvPr id="21" name="TextBox 20"/>
          <p:cNvSpPr txBox="1"/>
          <p:nvPr/>
        </p:nvSpPr>
        <p:spPr>
          <a:xfrm>
            <a:off x="1737360" y="4846320"/>
            <a:ext cx="2011680" cy="731520"/>
          </a:xfrm>
          <a:prstGeom prst="rect">
            <a:avLst/>
          </a:prstGeom>
          <a:noFill/>
        </p:spPr>
        <p:txBody>
          <a:bodyPr wrap="square"/>
          <a:lstStyle/>
          <a:p>
            <a:pPr algn="l">
              <a:defRPr sz="1500" b="1">
                <a:solidFill>
                  <a:srgbClr val="111827"/>
                </a:solidFill>
                <a:latin typeface="Calibri"/>
              </a:defRPr>
            </a:pPr>
            <a:r>
              <a:t>誤嚥性肺炎の</a:t>
            </a:r>
            <a:br/>
            <a:r>
              <a:t>予防と重度化防止</a:t>
            </a:r>
          </a:p>
        </p:txBody>
      </p:sp>
      <p:sp>
        <p:nvSpPr>
          <p:cNvPr id="22" name="TextBox 21"/>
          <p:cNvSpPr txBox="1"/>
          <p:nvPr/>
        </p:nvSpPr>
        <p:spPr>
          <a:xfrm>
            <a:off x="1737360" y="5532120"/>
            <a:ext cx="3840480" cy="640080"/>
          </a:xfrm>
          <a:prstGeom prst="rect">
            <a:avLst/>
          </a:prstGeom>
          <a:noFill/>
        </p:spPr>
        <p:txBody>
          <a:bodyPr wrap="square"/>
          <a:lstStyle/>
          <a:p>
            <a:pPr algn="l">
              <a:defRPr sz="1100" b="0">
                <a:solidFill>
                  <a:srgbClr val="4B5563"/>
                </a:solidFill>
                <a:latin typeface="Calibri"/>
              </a:defRPr>
            </a:pPr>
            <a:r>
              <a:t>専門的な口腔管理により誤嚥性肺炎リスクを低減。入所者の入院率低下は、施設の稼働率維持とスタッフの業務安定化に直結します。</a:t>
            </a:r>
          </a:p>
        </p:txBody>
      </p:sp>
      <p:sp>
        <p:nvSpPr>
          <p:cNvPr id="23" name="Rounded Rectangle 22"/>
          <p:cNvSpPr/>
          <p:nvPr/>
        </p:nvSpPr>
        <p:spPr>
          <a:xfrm>
            <a:off x="6400800" y="4663440"/>
            <a:ext cx="5303520" cy="16459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5120" y="4892040"/>
            <a:ext cx="502920" cy="50292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02552" y="4937759"/>
            <a:ext cx="502920" cy="411480"/>
          </a:xfrm>
          <a:prstGeom prst="rect">
            <a:avLst/>
          </a:prstGeom>
          <a:noFill/>
        </p:spPr>
        <p:txBody>
          <a:bodyPr wrap="square"/>
          <a:lstStyle/>
          <a:p>
            <a:pPr algn="ctr">
              <a:defRPr sz="1400" b="1">
                <a:solidFill>
                  <a:srgbClr val="FFFFFF"/>
                </a:solidFill>
                <a:latin typeface="Calibri"/>
              </a:defRPr>
            </a:pPr>
            <a:r>
              <a:t>04</a:t>
            </a:r>
          </a:p>
        </p:txBody>
      </p:sp>
      <p:sp>
        <p:nvSpPr>
          <p:cNvPr id="26" name="TextBox 25"/>
          <p:cNvSpPr txBox="1"/>
          <p:nvPr/>
        </p:nvSpPr>
        <p:spPr>
          <a:xfrm>
            <a:off x="7406640" y="4846320"/>
            <a:ext cx="2011680" cy="731520"/>
          </a:xfrm>
          <a:prstGeom prst="rect">
            <a:avLst/>
          </a:prstGeom>
          <a:noFill/>
        </p:spPr>
        <p:txBody>
          <a:bodyPr wrap="square"/>
          <a:lstStyle/>
          <a:p>
            <a:pPr algn="l">
              <a:defRPr sz="1500" b="1">
                <a:solidFill>
                  <a:srgbClr val="111827"/>
                </a:solidFill>
                <a:latin typeface="Calibri"/>
              </a:defRPr>
            </a:pPr>
            <a:r>
              <a:t>施設の加算取得を</a:t>
            </a:r>
            <a:br/>
            <a:r>
              <a:t>バックアップ</a:t>
            </a:r>
          </a:p>
        </p:txBody>
      </p:sp>
      <p:sp>
        <p:nvSpPr>
          <p:cNvPr id="27" name="TextBox 26"/>
          <p:cNvSpPr txBox="1"/>
          <p:nvPr/>
        </p:nvSpPr>
        <p:spPr>
          <a:xfrm>
            <a:off x="7406640" y="5532120"/>
            <a:ext cx="3840480" cy="640080"/>
          </a:xfrm>
          <a:prstGeom prst="rect">
            <a:avLst/>
          </a:prstGeom>
          <a:noFill/>
        </p:spPr>
        <p:txBody>
          <a:bodyPr wrap="square"/>
          <a:lstStyle/>
          <a:p>
            <a:pPr algn="l">
              <a:defRPr sz="1100" b="0">
                <a:solidFill>
                  <a:srgbClr val="4B5563"/>
                </a:solidFill>
                <a:latin typeface="Calibri"/>
              </a:defRPr>
            </a:pPr>
            <a:r>
              <a:t>口腔衛生管理加算(I)(II)、口腔衛生管理体制加算など、施設側で取得可能な加算の算定支援もあわせて行います。</a:t>
            </a:r>
          </a:p>
        </p:txBody>
      </p:sp>
      <p:sp>
        <p:nvSpPr>
          <p:cNvPr id="28" name="Rectangle 27"/>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COMPARISON</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一般的な訪問歯科とARCH支援医院の違い</a:t>
            </a:r>
          </a:p>
        </p:txBody>
      </p:sp>
      <p:sp>
        <p:nvSpPr>
          <p:cNvPr id="6" name="Rounded Rectangle 5"/>
          <p:cNvSpPr/>
          <p:nvPr/>
        </p:nvSpPr>
        <p:spPr>
          <a:xfrm>
            <a:off x="731520" y="1645920"/>
            <a:ext cx="5029200" cy="4572000"/>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5029200" cy="91440"/>
          </a:xfrm>
          <a:prstGeom prst="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20240"/>
            <a:ext cx="4389120" cy="457200"/>
          </a:xfrm>
          <a:prstGeom prst="rect">
            <a:avLst/>
          </a:prstGeom>
          <a:noFill/>
        </p:spPr>
        <p:txBody>
          <a:bodyPr wrap="square"/>
          <a:lstStyle/>
          <a:p>
            <a:pPr algn="ctr">
              <a:defRPr sz="2000" b="1">
                <a:solidFill>
                  <a:srgbClr val="4B5563"/>
                </a:solidFill>
                <a:latin typeface="Calibri"/>
              </a:defRPr>
            </a:pPr>
            <a:r>
              <a:t>一般的な訪問歯科</a:t>
            </a:r>
          </a:p>
        </p:txBody>
      </p:sp>
      <p:sp>
        <p:nvSpPr>
          <p:cNvPr id="9" name="TextBox 8"/>
          <p:cNvSpPr txBox="1"/>
          <p:nvPr/>
        </p:nvSpPr>
        <p:spPr>
          <a:xfrm>
            <a:off x="1097280" y="2560320"/>
            <a:ext cx="4389120" cy="411480"/>
          </a:xfrm>
          <a:prstGeom prst="rect">
            <a:avLst/>
          </a:prstGeom>
          <a:noFill/>
        </p:spPr>
        <p:txBody>
          <a:bodyPr wrap="square"/>
          <a:lstStyle/>
          <a:p>
            <a:pPr algn="l">
              <a:defRPr sz="1200" b="0">
                <a:solidFill>
                  <a:srgbClr val="4B5563"/>
                </a:solidFill>
                <a:latin typeface="Calibri"/>
              </a:defRPr>
            </a:pPr>
            <a:r>
              <a:t>✕  治療がメインで予防・ケア指導が少ない</a:t>
            </a:r>
          </a:p>
        </p:txBody>
      </p:sp>
      <p:sp>
        <p:nvSpPr>
          <p:cNvPr id="10" name="TextBox 9"/>
          <p:cNvSpPr txBox="1"/>
          <p:nvPr/>
        </p:nvSpPr>
        <p:spPr>
          <a:xfrm>
            <a:off x="1097280" y="3017520"/>
            <a:ext cx="4389120" cy="411480"/>
          </a:xfrm>
          <a:prstGeom prst="rect">
            <a:avLst/>
          </a:prstGeom>
          <a:noFill/>
        </p:spPr>
        <p:txBody>
          <a:bodyPr wrap="square"/>
          <a:lstStyle/>
          <a:p>
            <a:pPr algn="l">
              <a:defRPr sz="1200" b="0">
                <a:solidFill>
                  <a:srgbClr val="4B5563"/>
                </a:solidFill>
                <a:latin typeface="Calibri"/>
              </a:defRPr>
            </a:pPr>
            <a:r>
              <a:t>✕  書類作成は施設任せになりがち</a:t>
            </a:r>
          </a:p>
        </p:txBody>
      </p:sp>
      <p:sp>
        <p:nvSpPr>
          <p:cNvPr id="11" name="TextBox 10"/>
          <p:cNvSpPr txBox="1"/>
          <p:nvPr/>
        </p:nvSpPr>
        <p:spPr>
          <a:xfrm>
            <a:off x="1097280" y="3474720"/>
            <a:ext cx="4389120" cy="411480"/>
          </a:xfrm>
          <a:prstGeom prst="rect">
            <a:avLst/>
          </a:prstGeom>
          <a:noFill/>
        </p:spPr>
        <p:txBody>
          <a:bodyPr wrap="square"/>
          <a:lstStyle/>
          <a:p>
            <a:pPr algn="l">
              <a:defRPr sz="1200" b="0">
                <a:solidFill>
                  <a:srgbClr val="4B5563"/>
                </a:solidFill>
                <a:latin typeface="Calibri"/>
              </a:defRPr>
            </a:pPr>
            <a:r>
              <a:t>✕  施設との情報共有が不十分</a:t>
            </a:r>
          </a:p>
        </p:txBody>
      </p:sp>
      <p:sp>
        <p:nvSpPr>
          <p:cNvPr id="12" name="TextBox 11"/>
          <p:cNvSpPr txBox="1"/>
          <p:nvPr/>
        </p:nvSpPr>
        <p:spPr>
          <a:xfrm>
            <a:off x="1097280" y="3931920"/>
            <a:ext cx="4389120" cy="411480"/>
          </a:xfrm>
          <a:prstGeom prst="rect">
            <a:avLst/>
          </a:prstGeom>
          <a:noFill/>
        </p:spPr>
        <p:txBody>
          <a:bodyPr wrap="square"/>
          <a:lstStyle/>
          <a:p>
            <a:pPr algn="l">
              <a:defRPr sz="1200" b="0">
                <a:solidFill>
                  <a:srgbClr val="4B5563"/>
                </a:solidFill>
                <a:latin typeface="Calibri"/>
              </a:defRPr>
            </a:pPr>
            <a:r>
              <a:t>✕  算定漏れによる歯科側の赤字→撤退リスク</a:t>
            </a:r>
          </a:p>
        </p:txBody>
      </p:sp>
      <p:sp>
        <p:nvSpPr>
          <p:cNvPr id="13" name="TextBox 12"/>
          <p:cNvSpPr txBox="1"/>
          <p:nvPr/>
        </p:nvSpPr>
        <p:spPr>
          <a:xfrm>
            <a:off x="1097280" y="4389120"/>
            <a:ext cx="4389120" cy="411480"/>
          </a:xfrm>
          <a:prstGeom prst="rect">
            <a:avLst/>
          </a:prstGeom>
          <a:noFill/>
        </p:spPr>
        <p:txBody>
          <a:bodyPr wrap="square"/>
          <a:lstStyle/>
          <a:p>
            <a:pPr algn="l">
              <a:defRPr sz="1200" b="0">
                <a:solidFill>
                  <a:srgbClr val="4B5563"/>
                </a:solidFill>
                <a:latin typeface="Calibri"/>
              </a:defRPr>
            </a:pPr>
            <a:r>
              <a:t>✕  施設スタッフの負担はむしろ増える場合も</a:t>
            </a:r>
          </a:p>
        </p:txBody>
      </p:sp>
      <p:sp>
        <p:nvSpPr>
          <p:cNvPr id="14" name="Rounded Rectangle 13"/>
          <p:cNvSpPr/>
          <p:nvPr/>
        </p:nvSpPr>
        <p:spPr>
          <a:xfrm>
            <a:off x="6400800" y="1645920"/>
            <a:ext cx="5029200" cy="45720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645920"/>
            <a:ext cx="5029200" cy="9144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1920240"/>
            <a:ext cx="4389120" cy="457200"/>
          </a:xfrm>
          <a:prstGeom prst="rect">
            <a:avLst/>
          </a:prstGeom>
          <a:noFill/>
        </p:spPr>
        <p:txBody>
          <a:bodyPr wrap="square"/>
          <a:lstStyle/>
          <a:p>
            <a:pPr algn="ctr">
              <a:defRPr sz="2000" b="1">
                <a:solidFill>
                  <a:srgbClr val="166534"/>
                </a:solidFill>
                <a:latin typeface="Calibri"/>
              </a:defRPr>
            </a:pPr>
            <a:r>
              <a:t>ARCH支援の訪問歯科</a:t>
            </a:r>
          </a:p>
        </p:txBody>
      </p:sp>
      <p:sp>
        <p:nvSpPr>
          <p:cNvPr id="17" name="TextBox 16"/>
          <p:cNvSpPr txBox="1"/>
          <p:nvPr/>
        </p:nvSpPr>
        <p:spPr>
          <a:xfrm>
            <a:off x="6766560" y="2560320"/>
            <a:ext cx="4389120" cy="411480"/>
          </a:xfrm>
          <a:prstGeom prst="rect">
            <a:avLst/>
          </a:prstGeom>
          <a:noFill/>
        </p:spPr>
        <p:txBody>
          <a:bodyPr wrap="square"/>
          <a:lstStyle/>
          <a:p>
            <a:pPr algn="l">
              <a:defRPr sz="1200" b="0">
                <a:solidFill>
                  <a:srgbClr val="166534"/>
                </a:solidFill>
                <a:latin typeface="Calibri"/>
              </a:defRPr>
            </a:pPr>
            <a:r>
              <a:t>◎  予防・口腔ケア指導を軸にした包括的アプローチ</a:t>
            </a:r>
          </a:p>
        </p:txBody>
      </p:sp>
      <p:sp>
        <p:nvSpPr>
          <p:cNvPr id="18" name="TextBox 17"/>
          <p:cNvSpPr txBox="1"/>
          <p:nvPr/>
        </p:nvSpPr>
        <p:spPr>
          <a:xfrm>
            <a:off x="6766560" y="3017520"/>
            <a:ext cx="4389120" cy="411480"/>
          </a:xfrm>
          <a:prstGeom prst="rect">
            <a:avLst/>
          </a:prstGeom>
          <a:noFill/>
        </p:spPr>
        <p:txBody>
          <a:bodyPr wrap="square"/>
          <a:lstStyle/>
          <a:p>
            <a:pPr algn="l">
              <a:defRPr sz="1200" b="0">
                <a:solidFill>
                  <a:srgbClr val="166534"/>
                </a:solidFill>
                <a:latin typeface="Calibri"/>
              </a:defRPr>
            </a:pPr>
            <a:r>
              <a:t>◎  書類作成を歯科医院側がBPOとして全面代行</a:t>
            </a:r>
          </a:p>
        </p:txBody>
      </p:sp>
      <p:sp>
        <p:nvSpPr>
          <p:cNvPr id="19" name="TextBox 18"/>
          <p:cNvSpPr txBox="1"/>
          <p:nvPr/>
        </p:nvSpPr>
        <p:spPr>
          <a:xfrm>
            <a:off x="6766560" y="3474720"/>
            <a:ext cx="4389120" cy="411480"/>
          </a:xfrm>
          <a:prstGeom prst="rect">
            <a:avLst/>
          </a:prstGeom>
          <a:noFill/>
        </p:spPr>
        <p:txBody>
          <a:bodyPr wrap="square"/>
          <a:lstStyle/>
          <a:p>
            <a:pPr algn="l">
              <a:defRPr sz="1200" b="0">
                <a:solidFill>
                  <a:srgbClr val="166534"/>
                </a:solidFill>
                <a:latin typeface="Calibri"/>
              </a:defRPr>
            </a:pPr>
            <a:r>
              <a:t>◎  施設との密な連携（定期報告・カンファ参加）</a:t>
            </a:r>
          </a:p>
        </p:txBody>
      </p:sp>
      <p:sp>
        <p:nvSpPr>
          <p:cNvPr id="20" name="TextBox 19"/>
          <p:cNvSpPr txBox="1"/>
          <p:nvPr/>
        </p:nvSpPr>
        <p:spPr>
          <a:xfrm>
            <a:off x="6766560" y="3931920"/>
            <a:ext cx="4389120" cy="411480"/>
          </a:xfrm>
          <a:prstGeom prst="rect">
            <a:avLst/>
          </a:prstGeom>
          <a:noFill/>
        </p:spPr>
        <p:txBody>
          <a:bodyPr wrap="square"/>
          <a:lstStyle/>
          <a:p>
            <a:pPr algn="l">
              <a:defRPr sz="1200" b="0">
                <a:solidFill>
                  <a:srgbClr val="166534"/>
                </a:solidFill>
                <a:latin typeface="Calibri"/>
              </a:defRPr>
            </a:pPr>
            <a:r>
              <a:t>◎  算定漏れゼロ体制で安定した継続訪問を保証</a:t>
            </a:r>
          </a:p>
        </p:txBody>
      </p:sp>
      <p:sp>
        <p:nvSpPr>
          <p:cNvPr id="21" name="TextBox 20"/>
          <p:cNvSpPr txBox="1"/>
          <p:nvPr/>
        </p:nvSpPr>
        <p:spPr>
          <a:xfrm>
            <a:off x="6766560" y="4389120"/>
            <a:ext cx="4389120" cy="411480"/>
          </a:xfrm>
          <a:prstGeom prst="rect">
            <a:avLst/>
          </a:prstGeom>
          <a:noFill/>
        </p:spPr>
        <p:txBody>
          <a:bodyPr wrap="square"/>
          <a:lstStyle/>
          <a:p>
            <a:pPr algn="l">
              <a:defRPr sz="1200" b="0">
                <a:solidFill>
                  <a:srgbClr val="166534"/>
                </a:solidFill>
                <a:latin typeface="Calibri"/>
              </a:defRPr>
            </a:pPr>
            <a:r>
              <a:t>◎  スタッフ研修を通じて施設全体の口腔ケア力を向上</a:t>
            </a:r>
          </a:p>
        </p:txBody>
      </p:sp>
      <p:sp>
        <p:nvSpPr>
          <p:cNvPr id="22" name="Oval 21"/>
          <p:cNvSpPr/>
          <p:nvPr/>
        </p:nvSpPr>
        <p:spPr>
          <a:xfrm>
            <a:off x="5486400" y="3200400"/>
            <a:ext cx="822960" cy="822960"/>
          </a:xfrm>
          <a:prstGeom prst="ellips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0" y="3291840"/>
            <a:ext cx="822960" cy="640080"/>
          </a:xfrm>
          <a:prstGeom prst="rect">
            <a:avLst/>
          </a:prstGeom>
          <a:noFill/>
        </p:spPr>
        <p:txBody>
          <a:bodyPr wrap="square"/>
          <a:lstStyle/>
          <a:p>
            <a:pPr algn="ctr">
              <a:defRPr sz="1800" b="1">
                <a:solidFill>
                  <a:srgbClr val="FFFFFF"/>
                </a:solidFill>
                <a:latin typeface="Calibri"/>
              </a:defRPr>
            </a:pPr>
            <a:r>
              <a:t>VS</a:t>
            </a:r>
          </a:p>
        </p:txBody>
      </p:sp>
      <p:sp>
        <p:nvSpPr>
          <p:cNvPr id="24" name="Rectangle 23"/>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ABOUT</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ARCHについて</a:t>
            </a:r>
          </a:p>
        </p:txBody>
      </p:sp>
      <p:sp>
        <p:nvSpPr>
          <p:cNvPr id="6" name="Rounded Rectangle 5"/>
          <p:cNvSpPr/>
          <p:nvPr/>
        </p:nvSpPr>
        <p:spPr>
          <a:xfrm>
            <a:off x="731520" y="1645920"/>
            <a:ext cx="5303520" cy="45720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28800"/>
            <a:ext cx="4572000" cy="457200"/>
          </a:xfrm>
          <a:prstGeom prst="rect">
            <a:avLst/>
          </a:prstGeom>
          <a:noFill/>
        </p:spPr>
        <p:txBody>
          <a:bodyPr wrap="square"/>
          <a:lstStyle/>
          <a:p>
            <a:pPr algn="l">
              <a:defRPr sz="2000" b="1">
                <a:solidFill>
                  <a:srgbClr val="111827"/>
                </a:solidFill>
                <a:latin typeface="Calibri"/>
              </a:defRPr>
            </a:pPr>
            <a:r>
              <a:t>会社概要</a:t>
            </a:r>
          </a:p>
        </p:txBody>
      </p:sp>
      <p:sp>
        <p:nvSpPr>
          <p:cNvPr id="8" name="TextBox 7"/>
          <p:cNvSpPr txBox="1"/>
          <p:nvPr/>
        </p:nvSpPr>
        <p:spPr>
          <a:xfrm>
            <a:off x="1097280" y="2468880"/>
            <a:ext cx="1371600" cy="365760"/>
          </a:xfrm>
          <a:prstGeom prst="rect">
            <a:avLst/>
          </a:prstGeom>
          <a:noFill/>
        </p:spPr>
        <p:txBody>
          <a:bodyPr wrap="square"/>
          <a:lstStyle/>
          <a:p>
            <a:pPr algn="l">
              <a:defRPr sz="1100" b="1">
                <a:solidFill>
                  <a:srgbClr val="166534"/>
                </a:solidFill>
                <a:latin typeface="Calibri"/>
              </a:defRPr>
            </a:pPr>
            <a:r>
              <a:t>会社名</a:t>
            </a:r>
          </a:p>
        </p:txBody>
      </p:sp>
      <p:sp>
        <p:nvSpPr>
          <p:cNvPr id="9" name="TextBox 8"/>
          <p:cNvSpPr txBox="1"/>
          <p:nvPr/>
        </p:nvSpPr>
        <p:spPr>
          <a:xfrm>
            <a:off x="2560320" y="2468880"/>
            <a:ext cx="3200400" cy="548640"/>
          </a:xfrm>
          <a:prstGeom prst="rect">
            <a:avLst/>
          </a:prstGeom>
          <a:noFill/>
        </p:spPr>
        <p:txBody>
          <a:bodyPr wrap="square"/>
          <a:lstStyle/>
          <a:p>
            <a:pPr algn="l">
              <a:defRPr sz="1100" b="0">
                <a:solidFill>
                  <a:srgbClr val="374151"/>
                </a:solidFill>
                <a:latin typeface="Calibri"/>
              </a:defRPr>
            </a:pPr>
            <a:r>
              <a:t>合同会社ARCH（アーチ）</a:t>
            </a:r>
          </a:p>
        </p:txBody>
      </p:sp>
      <p:sp>
        <p:nvSpPr>
          <p:cNvPr id="10" name="TextBox 9"/>
          <p:cNvSpPr txBox="1"/>
          <p:nvPr/>
        </p:nvSpPr>
        <p:spPr>
          <a:xfrm>
            <a:off x="1097280" y="2971800"/>
            <a:ext cx="1371600" cy="365760"/>
          </a:xfrm>
          <a:prstGeom prst="rect">
            <a:avLst/>
          </a:prstGeom>
          <a:noFill/>
        </p:spPr>
        <p:txBody>
          <a:bodyPr wrap="square"/>
          <a:lstStyle/>
          <a:p>
            <a:pPr algn="l">
              <a:defRPr sz="1100" b="1">
                <a:solidFill>
                  <a:srgbClr val="166534"/>
                </a:solidFill>
                <a:latin typeface="Calibri"/>
              </a:defRPr>
            </a:pPr>
            <a:r>
              <a:t>代表者</a:t>
            </a:r>
          </a:p>
        </p:txBody>
      </p:sp>
      <p:sp>
        <p:nvSpPr>
          <p:cNvPr id="11" name="TextBox 10"/>
          <p:cNvSpPr txBox="1"/>
          <p:nvPr/>
        </p:nvSpPr>
        <p:spPr>
          <a:xfrm>
            <a:off x="2560320" y="2971800"/>
            <a:ext cx="3200400" cy="548640"/>
          </a:xfrm>
          <a:prstGeom prst="rect">
            <a:avLst/>
          </a:prstGeom>
          <a:noFill/>
        </p:spPr>
        <p:txBody>
          <a:bodyPr wrap="square"/>
          <a:lstStyle/>
          <a:p>
            <a:pPr algn="l">
              <a:defRPr sz="1100" b="0">
                <a:solidFill>
                  <a:srgbClr val="374151"/>
                </a:solidFill>
                <a:latin typeface="Calibri"/>
              </a:defRPr>
            </a:pPr>
            <a:r>
              <a:t>鈴木 集</a:t>
            </a:r>
          </a:p>
        </p:txBody>
      </p:sp>
      <p:sp>
        <p:nvSpPr>
          <p:cNvPr id="12" name="TextBox 11"/>
          <p:cNvSpPr txBox="1"/>
          <p:nvPr/>
        </p:nvSpPr>
        <p:spPr>
          <a:xfrm>
            <a:off x="1097280" y="3474720"/>
            <a:ext cx="1371600" cy="365760"/>
          </a:xfrm>
          <a:prstGeom prst="rect">
            <a:avLst/>
          </a:prstGeom>
          <a:noFill/>
        </p:spPr>
        <p:txBody>
          <a:bodyPr wrap="square"/>
          <a:lstStyle/>
          <a:p>
            <a:pPr algn="l">
              <a:defRPr sz="1100" b="1">
                <a:solidFill>
                  <a:srgbClr val="166534"/>
                </a:solidFill>
                <a:latin typeface="Calibri"/>
              </a:defRPr>
            </a:pPr>
            <a:r>
              <a:t>所在地</a:t>
            </a:r>
          </a:p>
        </p:txBody>
      </p:sp>
      <p:sp>
        <p:nvSpPr>
          <p:cNvPr id="13" name="TextBox 12"/>
          <p:cNvSpPr txBox="1"/>
          <p:nvPr/>
        </p:nvSpPr>
        <p:spPr>
          <a:xfrm>
            <a:off x="2560320" y="3474720"/>
            <a:ext cx="3200400" cy="548640"/>
          </a:xfrm>
          <a:prstGeom prst="rect">
            <a:avLst/>
          </a:prstGeom>
          <a:noFill/>
        </p:spPr>
        <p:txBody>
          <a:bodyPr wrap="square"/>
          <a:lstStyle/>
          <a:p>
            <a:pPr algn="l">
              <a:defRPr sz="1100" b="0">
                <a:solidFill>
                  <a:srgbClr val="374151"/>
                </a:solidFill>
                <a:latin typeface="Calibri"/>
              </a:defRPr>
            </a:pPr>
            <a:r>
              <a:t>[ 所在地を入力 ]</a:t>
            </a:r>
          </a:p>
        </p:txBody>
      </p:sp>
      <p:sp>
        <p:nvSpPr>
          <p:cNvPr id="14" name="TextBox 13"/>
          <p:cNvSpPr txBox="1"/>
          <p:nvPr/>
        </p:nvSpPr>
        <p:spPr>
          <a:xfrm>
            <a:off x="1097280" y="3977639"/>
            <a:ext cx="1371600" cy="365760"/>
          </a:xfrm>
          <a:prstGeom prst="rect">
            <a:avLst/>
          </a:prstGeom>
          <a:noFill/>
        </p:spPr>
        <p:txBody>
          <a:bodyPr wrap="square"/>
          <a:lstStyle/>
          <a:p>
            <a:pPr algn="l">
              <a:defRPr sz="1100" b="1">
                <a:solidFill>
                  <a:srgbClr val="166534"/>
                </a:solidFill>
                <a:latin typeface="Calibri"/>
              </a:defRPr>
            </a:pPr>
            <a:r>
              <a:t>設立</a:t>
            </a:r>
          </a:p>
        </p:txBody>
      </p:sp>
      <p:sp>
        <p:nvSpPr>
          <p:cNvPr id="15" name="TextBox 14"/>
          <p:cNvSpPr txBox="1"/>
          <p:nvPr/>
        </p:nvSpPr>
        <p:spPr>
          <a:xfrm>
            <a:off x="2560320" y="3977639"/>
            <a:ext cx="3200400" cy="548640"/>
          </a:xfrm>
          <a:prstGeom prst="rect">
            <a:avLst/>
          </a:prstGeom>
          <a:noFill/>
        </p:spPr>
        <p:txBody>
          <a:bodyPr wrap="square"/>
          <a:lstStyle/>
          <a:p>
            <a:pPr algn="l">
              <a:defRPr sz="1100" b="0">
                <a:solidFill>
                  <a:srgbClr val="374151"/>
                </a:solidFill>
                <a:latin typeface="Calibri"/>
              </a:defRPr>
            </a:pPr>
            <a:r>
              <a:t>[ 設立年月を入力 ]</a:t>
            </a:r>
          </a:p>
        </p:txBody>
      </p:sp>
      <p:sp>
        <p:nvSpPr>
          <p:cNvPr id="16" name="TextBox 15"/>
          <p:cNvSpPr txBox="1"/>
          <p:nvPr/>
        </p:nvSpPr>
        <p:spPr>
          <a:xfrm>
            <a:off x="1097280" y="4480559"/>
            <a:ext cx="1371600" cy="365760"/>
          </a:xfrm>
          <a:prstGeom prst="rect">
            <a:avLst/>
          </a:prstGeom>
          <a:noFill/>
        </p:spPr>
        <p:txBody>
          <a:bodyPr wrap="square"/>
          <a:lstStyle/>
          <a:p>
            <a:pPr algn="l">
              <a:defRPr sz="1100" b="1">
                <a:solidFill>
                  <a:srgbClr val="166534"/>
                </a:solidFill>
                <a:latin typeface="Calibri"/>
              </a:defRPr>
            </a:pPr>
            <a:r>
              <a:t>事業内容</a:t>
            </a:r>
          </a:p>
        </p:txBody>
      </p:sp>
      <p:sp>
        <p:nvSpPr>
          <p:cNvPr id="17" name="TextBox 16"/>
          <p:cNvSpPr txBox="1"/>
          <p:nvPr/>
        </p:nvSpPr>
        <p:spPr>
          <a:xfrm>
            <a:off x="2560320" y="4480559"/>
            <a:ext cx="3200400" cy="548640"/>
          </a:xfrm>
          <a:prstGeom prst="rect">
            <a:avLst/>
          </a:prstGeom>
          <a:noFill/>
        </p:spPr>
        <p:txBody>
          <a:bodyPr wrap="square"/>
          <a:lstStyle/>
          <a:p>
            <a:pPr algn="l">
              <a:defRPr sz="1100" b="0">
                <a:solidFill>
                  <a:srgbClr val="374151"/>
                </a:solidFill>
                <a:latin typeface="Calibri"/>
              </a:defRPr>
            </a:pPr>
            <a:r>
              <a:t>訪問歯科コンサルティング</a:t>
            </a:r>
            <a:br/>
            <a:r>
              <a:t>医療介護特化型営業コンサル</a:t>
            </a:r>
            <a:br/>
            <a:r>
              <a:t>老人ホーム紹介事業</a:t>
            </a:r>
          </a:p>
        </p:txBody>
      </p:sp>
      <p:sp>
        <p:nvSpPr>
          <p:cNvPr id="18" name="TextBox 17"/>
          <p:cNvSpPr txBox="1"/>
          <p:nvPr/>
        </p:nvSpPr>
        <p:spPr>
          <a:xfrm>
            <a:off x="1097280" y="4983479"/>
            <a:ext cx="1371600" cy="365760"/>
          </a:xfrm>
          <a:prstGeom prst="rect">
            <a:avLst/>
          </a:prstGeom>
          <a:noFill/>
        </p:spPr>
        <p:txBody>
          <a:bodyPr wrap="square"/>
          <a:lstStyle/>
          <a:p>
            <a:pPr algn="l">
              <a:defRPr sz="1100" b="1">
                <a:solidFill>
                  <a:srgbClr val="166534"/>
                </a:solidFill>
                <a:latin typeface="Calibri"/>
              </a:defRPr>
            </a:pPr>
            <a:r>
              <a:t>URL</a:t>
            </a:r>
          </a:p>
        </p:txBody>
      </p:sp>
      <p:sp>
        <p:nvSpPr>
          <p:cNvPr id="19" name="TextBox 18"/>
          <p:cNvSpPr txBox="1"/>
          <p:nvPr/>
        </p:nvSpPr>
        <p:spPr>
          <a:xfrm>
            <a:off x="2560320" y="4983479"/>
            <a:ext cx="3200400" cy="548640"/>
          </a:xfrm>
          <a:prstGeom prst="rect">
            <a:avLst/>
          </a:prstGeom>
          <a:noFill/>
        </p:spPr>
        <p:txBody>
          <a:bodyPr wrap="square"/>
          <a:lstStyle/>
          <a:p>
            <a:pPr algn="l">
              <a:defRPr sz="1100" b="0">
                <a:solidFill>
                  <a:srgbClr val="374151"/>
                </a:solidFill>
                <a:latin typeface="Calibri"/>
              </a:defRPr>
            </a:pPr>
            <a:r>
              <a:t>https://www.arch-yh.com</a:t>
            </a:r>
          </a:p>
        </p:txBody>
      </p:sp>
      <p:sp>
        <p:nvSpPr>
          <p:cNvPr id="20" name="Rounded Rectangle 19"/>
          <p:cNvSpPr/>
          <p:nvPr/>
        </p:nvSpPr>
        <p:spPr>
          <a:xfrm>
            <a:off x="6400800" y="1645920"/>
            <a:ext cx="5029200" cy="45720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1828800"/>
            <a:ext cx="4572000" cy="457200"/>
          </a:xfrm>
          <a:prstGeom prst="rect">
            <a:avLst/>
          </a:prstGeom>
          <a:noFill/>
        </p:spPr>
        <p:txBody>
          <a:bodyPr wrap="square"/>
          <a:lstStyle/>
          <a:p>
            <a:pPr algn="l">
              <a:defRPr sz="2000" b="1">
                <a:solidFill>
                  <a:srgbClr val="111827"/>
                </a:solidFill>
                <a:latin typeface="Calibri"/>
              </a:defRPr>
            </a:pPr>
            <a:r>
              <a:t>ミッション</a:t>
            </a:r>
          </a:p>
        </p:txBody>
      </p:sp>
      <p:sp>
        <p:nvSpPr>
          <p:cNvPr id="22" name="TextBox 21"/>
          <p:cNvSpPr txBox="1"/>
          <p:nvPr/>
        </p:nvSpPr>
        <p:spPr>
          <a:xfrm>
            <a:off x="6766560" y="2468880"/>
            <a:ext cx="4389120" cy="2286000"/>
          </a:xfrm>
          <a:prstGeom prst="rect">
            <a:avLst/>
          </a:prstGeom>
          <a:noFill/>
        </p:spPr>
        <p:txBody>
          <a:bodyPr wrap="square"/>
          <a:lstStyle/>
          <a:p>
            <a:pPr algn="l">
              <a:defRPr sz="1400" b="0">
                <a:solidFill>
                  <a:srgbClr val="4B5563"/>
                </a:solidFill>
                <a:latin typeface="Calibri"/>
              </a:defRPr>
            </a:pPr>
            <a:r>
              <a:t>医療と介護の現場をつなぐ架け橋として、</a:t>
            </a:r>
            <a:br/>
            <a:br/>
            <a:r>
              <a:t>施設様の負担を減らし、</a:t>
            </a:r>
            <a:br/>
            <a:r>
              <a:t>入所者様の健康を守り、</a:t>
            </a:r>
            <a:br/>
            <a:r>
              <a:t>歯科医院の質を高める。</a:t>
            </a:r>
            <a:br/>
            <a:br/>
            <a:r>
              <a:t>「三方良し」の訪問歯科を</a:t>
            </a:r>
            <a:br/>
            <a:r>
              <a:t>全国に広げることが私たちの使命です。</a:t>
            </a:r>
          </a:p>
        </p:txBody>
      </p:sp>
      <p:sp>
        <p:nvSpPr>
          <p:cNvPr id="23" name="Rectangle 22"/>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SERVICES</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事業内容</a:t>
            </a:r>
          </a:p>
        </p:txBody>
      </p:sp>
      <p:sp>
        <p:nvSpPr>
          <p:cNvPr id="6" name="Rounded Rectangle 5"/>
          <p:cNvSpPr/>
          <p:nvPr/>
        </p:nvSpPr>
        <p:spPr>
          <a:xfrm>
            <a:off x="731520" y="1645920"/>
            <a:ext cx="3383280" cy="45720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383280" cy="10972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11680"/>
            <a:ext cx="2743200" cy="274320"/>
          </a:xfrm>
          <a:prstGeom prst="rect">
            <a:avLst/>
          </a:prstGeom>
          <a:noFill/>
        </p:spPr>
        <p:txBody>
          <a:bodyPr wrap="square"/>
          <a:lstStyle/>
          <a:p>
            <a:pPr algn="l">
              <a:defRPr sz="1000" b="1">
                <a:solidFill>
                  <a:srgbClr val="166534"/>
                </a:solidFill>
                <a:latin typeface="Calibri"/>
              </a:defRPr>
            </a:pPr>
            <a:r>
              <a:t>主事業</a:t>
            </a:r>
          </a:p>
        </p:txBody>
      </p:sp>
      <p:sp>
        <p:nvSpPr>
          <p:cNvPr id="9" name="TextBox 8"/>
          <p:cNvSpPr txBox="1"/>
          <p:nvPr/>
        </p:nvSpPr>
        <p:spPr>
          <a:xfrm>
            <a:off x="1005840" y="2377440"/>
            <a:ext cx="2743200" cy="914400"/>
          </a:xfrm>
          <a:prstGeom prst="rect">
            <a:avLst/>
          </a:prstGeom>
          <a:noFill/>
        </p:spPr>
        <p:txBody>
          <a:bodyPr wrap="square"/>
          <a:lstStyle/>
          <a:p>
            <a:pPr algn="l">
              <a:defRPr sz="2000" b="1">
                <a:solidFill>
                  <a:srgbClr val="111827"/>
                </a:solidFill>
                <a:latin typeface="Calibri"/>
              </a:defRPr>
            </a:pPr>
            <a:r>
              <a:t>訪問歯科</a:t>
            </a:r>
            <a:br/>
            <a:r>
              <a:t>コンサルティング</a:t>
            </a:r>
          </a:p>
        </p:txBody>
      </p:sp>
      <p:sp>
        <p:nvSpPr>
          <p:cNvPr id="10" name="TextBox 9"/>
          <p:cNvSpPr txBox="1"/>
          <p:nvPr/>
        </p:nvSpPr>
        <p:spPr>
          <a:xfrm>
            <a:off x="1005840" y="3474720"/>
            <a:ext cx="2743200" cy="2286000"/>
          </a:xfrm>
          <a:prstGeom prst="rect">
            <a:avLst/>
          </a:prstGeom>
          <a:noFill/>
        </p:spPr>
        <p:txBody>
          <a:bodyPr wrap="square"/>
          <a:lstStyle/>
          <a:p>
            <a:pPr algn="l">
              <a:defRPr sz="1300" b="0">
                <a:solidFill>
                  <a:srgbClr val="4B5563"/>
                </a:solidFill>
                <a:latin typeface="Calibri"/>
              </a:defRPr>
            </a:pPr>
            <a:r>
              <a:t>歯科医院の訪問歯科事業を</a:t>
            </a:r>
            <a:br/>
            <a:r>
              <a:t>立ち上げから運営まで支援。</a:t>
            </a:r>
            <a:br/>
            <a:r>
              <a:t>算定BPO・独自アプリ・</a:t>
            </a:r>
            <a:br/>
            <a:r>
              <a:t>ネットワークを提供。</a:t>
            </a:r>
          </a:p>
        </p:txBody>
      </p:sp>
      <p:sp>
        <p:nvSpPr>
          <p:cNvPr id="11" name="Rounded Rectangle 10"/>
          <p:cNvSpPr/>
          <p:nvPr/>
        </p:nvSpPr>
        <p:spPr>
          <a:xfrm>
            <a:off x="4480559" y="1645920"/>
            <a:ext cx="3383280" cy="45720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59" y="1645920"/>
            <a:ext cx="3383280" cy="1097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9" y="2011680"/>
            <a:ext cx="2743200" cy="274320"/>
          </a:xfrm>
          <a:prstGeom prst="rect">
            <a:avLst/>
          </a:prstGeom>
          <a:noFill/>
        </p:spPr>
        <p:txBody>
          <a:bodyPr wrap="square"/>
          <a:lstStyle/>
          <a:p>
            <a:pPr algn="l">
              <a:defRPr sz="1000" b="1">
                <a:solidFill>
                  <a:srgbClr val="15803D"/>
                </a:solidFill>
                <a:latin typeface="Calibri"/>
              </a:defRPr>
            </a:pPr>
            <a:r>
              <a:t>事業②</a:t>
            </a:r>
          </a:p>
        </p:txBody>
      </p:sp>
      <p:sp>
        <p:nvSpPr>
          <p:cNvPr id="14" name="TextBox 13"/>
          <p:cNvSpPr txBox="1"/>
          <p:nvPr/>
        </p:nvSpPr>
        <p:spPr>
          <a:xfrm>
            <a:off x="4754879" y="2377440"/>
            <a:ext cx="2743200" cy="914400"/>
          </a:xfrm>
          <a:prstGeom prst="rect">
            <a:avLst/>
          </a:prstGeom>
          <a:noFill/>
        </p:spPr>
        <p:txBody>
          <a:bodyPr wrap="square"/>
          <a:lstStyle/>
          <a:p>
            <a:pPr algn="l">
              <a:defRPr sz="2000" b="1">
                <a:solidFill>
                  <a:srgbClr val="111827"/>
                </a:solidFill>
                <a:latin typeface="Calibri"/>
              </a:defRPr>
            </a:pPr>
            <a:r>
              <a:t>医療介護特化型</a:t>
            </a:r>
            <a:br/>
            <a:r>
              <a:t>営業コンサルティング</a:t>
            </a:r>
          </a:p>
        </p:txBody>
      </p:sp>
      <p:sp>
        <p:nvSpPr>
          <p:cNvPr id="15" name="TextBox 14"/>
          <p:cNvSpPr txBox="1"/>
          <p:nvPr/>
        </p:nvSpPr>
        <p:spPr>
          <a:xfrm>
            <a:off x="4754879" y="3474720"/>
            <a:ext cx="2743200" cy="2286000"/>
          </a:xfrm>
          <a:prstGeom prst="rect">
            <a:avLst/>
          </a:prstGeom>
          <a:noFill/>
        </p:spPr>
        <p:txBody>
          <a:bodyPr wrap="square"/>
          <a:lstStyle/>
          <a:p>
            <a:pPr algn="l">
              <a:defRPr sz="1300" b="0">
                <a:solidFill>
                  <a:srgbClr val="4B5563"/>
                </a:solidFill>
                <a:latin typeface="Calibri"/>
              </a:defRPr>
            </a:pPr>
            <a:r>
              <a:t>泥臭い現場ノウハウで</a:t>
            </a:r>
            <a:br/>
            <a:r>
              <a:t>営業戦略からマインドセット</a:t>
            </a:r>
            <a:br/>
            <a:r>
              <a:t>まで一気通貫で指導。</a:t>
            </a:r>
          </a:p>
        </p:txBody>
      </p:sp>
      <p:sp>
        <p:nvSpPr>
          <p:cNvPr id="16" name="Rounded Rectangle 15"/>
          <p:cNvSpPr/>
          <p:nvPr/>
        </p:nvSpPr>
        <p:spPr>
          <a:xfrm>
            <a:off x="8229600" y="1645920"/>
            <a:ext cx="3383280" cy="457200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645920"/>
            <a:ext cx="3383280" cy="109728"/>
          </a:xfrm>
          <a:prstGeom prst="rect">
            <a:avLst/>
          </a:prstGeom>
          <a:solidFill>
            <a:srgbClr val="0E7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011680"/>
            <a:ext cx="2743200" cy="274320"/>
          </a:xfrm>
          <a:prstGeom prst="rect">
            <a:avLst/>
          </a:prstGeom>
          <a:noFill/>
        </p:spPr>
        <p:txBody>
          <a:bodyPr wrap="square"/>
          <a:lstStyle/>
          <a:p>
            <a:pPr algn="l">
              <a:defRPr sz="1000" b="1">
                <a:solidFill>
                  <a:srgbClr val="0E7A90"/>
                </a:solidFill>
                <a:latin typeface="Calibri"/>
              </a:defRPr>
            </a:pPr>
            <a:r>
              <a:t>事業③</a:t>
            </a:r>
          </a:p>
        </p:txBody>
      </p:sp>
      <p:sp>
        <p:nvSpPr>
          <p:cNvPr id="19" name="TextBox 18"/>
          <p:cNvSpPr txBox="1"/>
          <p:nvPr/>
        </p:nvSpPr>
        <p:spPr>
          <a:xfrm>
            <a:off x="8503920" y="2377440"/>
            <a:ext cx="2743200" cy="914400"/>
          </a:xfrm>
          <a:prstGeom prst="rect">
            <a:avLst/>
          </a:prstGeom>
          <a:noFill/>
        </p:spPr>
        <p:txBody>
          <a:bodyPr wrap="square"/>
          <a:lstStyle/>
          <a:p>
            <a:pPr algn="l">
              <a:defRPr sz="2000" b="1">
                <a:solidFill>
                  <a:srgbClr val="111827"/>
                </a:solidFill>
                <a:latin typeface="Calibri"/>
              </a:defRPr>
            </a:pPr>
            <a:r>
              <a:t>老人ホーム</a:t>
            </a:r>
            <a:br/>
            <a:r>
              <a:t>紹介事業</a:t>
            </a:r>
          </a:p>
        </p:txBody>
      </p:sp>
      <p:sp>
        <p:nvSpPr>
          <p:cNvPr id="20" name="TextBox 19"/>
          <p:cNvSpPr txBox="1"/>
          <p:nvPr/>
        </p:nvSpPr>
        <p:spPr>
          <a:xfrm>
            <a:off x="8503920" y="3474720"/>
            <a:ext cx="2743200" cy="2286000"/>
          </a:xfrm>
          <a:prstGeom prst="rect">
            <a:avLst/>
          </a:prstGeom>
          <a:noFill/>
        </p:spPr>
        <p:txBody>
          <a:bodyPr wrap="square"/>
          <a:lstStyle/>
          <a:p>
            <a:pPr algn="l">
              <a:defRPr sz="1300" b="0">
                <a:solidFill>
                  <a:srgbClr val="4B5563"/>
                </a:solidFill>
                <a:latin typeface="Calibri"/>
              </a:defRPr>
            </a:pPr>
            <a:r>
              <a:t>完全中立の立場で</a:t>
            </a:r>
            <a:br/>
            <a:r>
              <a:t>患者様に最適な施設を</a:t>
            </a:r>
            <a:br/>
            <a:r>
              <a:t>看護師目線でマッチング。</a:t>
            </a:r>
          </a:p>
        </p:txBody>
      </p:sp>
      <p:sp>
        <p:nvSpPr>
          <p:cNvPr id="21" name="Rectangle 20"/>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MAIN BUSINESS</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訪問歯科コンサルティングの施設様への還元</a:t>
            </a:r>
          </a:p>
        </p:txBody>
      </p:sp>
      <p:sp>
        <p:nvSpPr>
          <p:cNvPr id="6" name="Rounded Rectangle 5"/>
          <p:cNvSpPr/>
          <p:nvPr/>
        </p:nvSpPr>
        <p:spPr>
          <a:xfrm>
            <a:off x="731520" y="1645920"/>
            <a:ext cx="530352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9728" cy="201168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920240"/>
            <a:ext cx="1828800" cy="457200"/>
          </a:xfrm>
          <a:prstGeom prst="rect">
            <a:avLst/>
          </a:prstGeom>
          <a:noFill/>
        </p:spPr>
        <p:txBody>
          <a:bodyPr wrap="square"/>
          <a:lstStyle/>
          <a:p>
            <a:pPr algn="l">
              <a:defRPr sz="2000" b="1">
                <a:solidFill>
                  <a:srgbClr val="111827"/>
                </a:solidFill>
                <a:latin typeface="Calibri"/>
              </a:defRPr>
            </a:pPr>
            <a:r>
              <a:t>算定BPO</a:t>
            </a:r>
          </a:p>
        </p:txBody>
      </p:sp>
      <p:sp>
        <p:nvSpPr>
          <p:cNvPr id="9" name="TextBox 8"/>
          <p:cNvSpPr txBox="1"/>
          <p:nvPr/>
        </p:nvSpPr>
        <p:spPr>
          <a:xfrm>
            <a:off x="1188720" y="2468880"/>
            <a:ext cx="4389120" cy="914400"/>
          </a:xfrm>
          <a:prstGeom prst="rect">
            <a:avLst/>
          </a:prstGeom>
          <a:noFill/>
        </p:spPr>
        <p:txBody>
          <a:bodyPr wrap="square"/>
          <a:lstStyle/>
          <a:p>
            <a:pPr algn="l">
              <a:defRPr sz="1400" b="0">
                <a:solidFill>
                  <a:srgbClr val="4B5563"/>
                </a:solidFill>
                <a:latin typeface="Calibri"/>
              </a:defRPr>
            </a:pPr>
            <a:r>
              <a:t>書類作成を歯科医院側で全面代行</a:t>
            </a:r>
            <a:br/>
            <a:r>
              <a:t>→施設様の事務負担ゼロ</a:t>
            </a:r>
          </a:p>
        </p:txBody>
      </p:sp>
      <p:sp>
        <p:nvSpPr>
          <p:cNvPr id="10" name="Rounded Rectangle 9"/>
          <p:cNvSpPr/>
          <p:nvPr/>
        </p:nvSpPr>
        <p:spPr>
          <a:xfrm>
            <a:off x="6400800" y="1645920"/>
            <a:ext cx="530352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645920"/>
            <a:ext cx="109728" cy="2011680"/>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920240"/>
            <a:ext cx="1828800" cy="457200"/>
          </a:xfrm>
          <a:prstGeom prst="rect">
            <a:avLst/>
          </a:prstGeom>
          <a:noFill/>
        </p:spPr>
        <p:txBody>
          <a:bodyPr wrap="square"/>
          <a:lstStyle/>
          <a:p>
            <a:pPr algn="l">
              <a:defRPr sz="2000" b="1">
                <a:solidFill>
                  <a:srgbClr val="111827"/>
                </a:solidFill>
                <a:latin typeface="Calibri"/>
              </a:defRPr>
            </a:pPr>
            <a:r>
              <a:t>独自アプリ</a:t>
            </a:r>
          </a:p>
        </p:txBody>
      </p:sp>
      <p:sp>
        <p:nvSpPr>
          <p:cNvPr id="13" name="TextBox 12"/>
          <p:cNvSpPr txBox="1"/>
          <p:nvPr/>
        </p:nvSpPr>
        <p:spPr>
          <a:xfrm>
            <a:off x="6858000" y="2468880"/>
            <a:ext cx="4389120" cy="914400"/>
          </a:xfrm>
          <a:prstGeom prst="rect">
            <a:avLst/>
          </a:prstGeom>
          <a:noFill/>
        </p:spPr>
        <p:txBody>
          <a:bodyPr wrap="square"/>
          <a:lstStyle/>
          <a:p>
            <a:pPr algn="l">
              <a:defRPr sz="1400" b="0">
                <a:solidFill>
                  <a:srgbClr val="4B5563"/>
                </a:solidFill>
                <a:latin typeface="Calibri"/>
              </a:defRPr>
            </a:pPr>
            <a:r>
              <a:t>現場の事務作業・ルート調整を</a:t>
            </a:r>
            <a:br/>
            <a:r>
              <a:t>システム化し、安定訪問を実現</a:t>
            </a:r>
          </a:p>
        </p:txBody>
      </p:sp>
      <p:sp>
        <p:nvSpPr>
          <p:cNvPr id="14" name="Rounded Rectangle 13"/>
          <p:cNvSpPr/>
          <p:nvPr/>
        </p:nvSpPr>
        <p:spPr>
          <a:xfrm>
            <a:off x="731520" y="4023360"/>
            <a:ext cx="530352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023360"/>
            <a:ext cx="109728" cy="2011680"/>
          </a:xfrm>
          <a:prstGeom prst="rect">
            <a:avLst/>
          </a:prstGeom>
          <a:solidFill>
            <a:srgbClr val="0E7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297680"/>
            <a:ext cx="1828800" cy="457200"/>
          </a:xfrm>
          <a:prstGeom prst="rect">
            <a:avLst/>
          </a:prstGeom>
          <a:noFill/>
        </p:spPr>
        <p:txBody>
          <a:bodyPr wrap="square"/>
          <a:lstStyle/>
          <a:p>
            <a:pPr algn="l">
              <a:defRPr sz="2000" b="1">
                <a:solidFill>
                  <a:srgbClr val="111827"/>
                </a:solidFill>
                <a:latin typeface="Calibri"/>
              </a:defRPr>
            </a:pPr>
            <a:r>
              <a:t>ケア指導</a:t>
            </a:r>
          </a:p>
        </p:txBody>
      </p:sp>
      <p:sp>
        <p:nvSpPr>
          <p:cNvPr id="17" name="TextBox 16"/>
          <p:cNvSpPr txBox="1"/>
          <p:nvPr/>
        </p:nvSpPr>
        <p:spPr>
          <a:xfrm>
            <a:off x="1188720" y="4846320"/>
            <a:ext cx="4389120" cy="914400"/>
          </a:xfrm>
          <a:prstGeom prst="rect">
            <a:avLst/>
          </a:prstGeom>
          <a:noFill/>
        </p:spPr>
        <p:txBody>
          <a:bodyPr wrap="square"/>
          <a:lstStyle/>
          <a:p>
            <a:pPr algn="l">
              <a:defRPr sz="1400" b="0">
                <a:solidFill>
                  <a:srgbClr val="4B5563"/>
                </a:solidFill>
                <a:latin typeface="Calibri"/>
              </a:defRPr>
            </a:pPr>
            <a:r>
              <a:t>歯科衛生士による施設スタッフ</a:t>
            </a:r>
            <a:br/>
            <a:r>
              <a:t>への口腔ケア実技研修</a:t>
            </a:r>
          </a:p>
        </p:txBody>
      </p:sp>
      <p:sp>
        <p:nvSpPr>
          <p:cNvPr id="18" name="Rounded Rectangle 17"/>
          <p:cNvSpPr/>
          <p:nvPr/>
        </p:nvSpPr>
        <p:spPr>
          <a:xfrm>
            <a:off x="6400800" y="4023360"/>
            <a:ext cx="530352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023360"/>
            <a:ext cx="109728" cy="2011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4297680"/>
            <a:ext cx="1828800" cy="457200"/>
          </a:xfrm>
          <a:prstGeom prst="rect">
            <a:avLst/>
          </a:prstGeom>
          <a:noFill/>
        </p:spPr>
        <p:txBody>
          <a:bodyPr wrap="square"/>
          <a:lstStyle/>
          <a:p>
            <a:pPr algn="l">
              <a:defRPr sz="2000" b="1">
                <a:solidFill>
                  <a:srgbClr val="111827"/>
                </a:solidFill>
                <a:latin typeface="Calibri"/>
              </a:defRPr>
            </a:pPr>
            <a:r>
              <a:t>連携体制</a:t>
            </a:r>
          </a:p>
        </p:txBody>
      </p:sp>
      <p:sp>
        <p:nvSpPr>
          <p:cNvPr id="21" name="TextBox 20"/>
          <p:cNvSpPr txBox="1"/>
          <p:nvPr/>
        </p:nvSpPr>
        <p:spPr>
          <a:xfrm>
            <a:off x="6858000" y="4846320"/>
            <a:ext cx="4389120" cy="914400"/>
          </a:xfrm>
          <a:prstGeom prst="rect">
            <a:avLst/>
          </a:prstGeom>
          <a:noFill/>
        </p:spPr>
        <p:txBody>
          <a:bodyPr wrap="square"/>
          <a:lstStyle/>
          <a:p>
            <a:pPr algn="l">
              <a:defRPr sz="1400" b="0">
                <a:solidFill>
                  <a:srgbClr val="4B5563"/>
                </a:solidFill>
                <a:latin typeface="Calibri"/>
              </a:defRPr>
            </a:pPr>
            <a:r>
              <a:t>定期報告・カンファ参加で</a:t>
            </a:r>
            <a:br/>
            <a:r>
              <a:t>施設との密なコミュニケーション</a:t>
            </a:r>
          </a:p>
        </p:txBody>
      </p:sp>
      <p:sp>
        <p:nvSpPr>
          <p:cNvPr id="22" name="Rectangle 21"/>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PRICING</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料金プラン</a:t>
            </a:r>
          </a:p>
        </p:txBody>
      </p:sp>
      <p:sp>
        <p:nvSpPr>
          <p:cNvPr id="6" name="TextBox 5"/>
          <p:cNvSpPr txBox="1"/>
          <p:nvPr/>
        </p:nvSpPr>
        <p:spPr>
          <a:xfrm>
            <a:off x="731520" y="1508760"/>
            <a:ext cx="10058400" cy="274320"/>
          </a:xfrm>
          <a:prstGeom prst="rect">
            <a:avLst/>
          </a:prstGeom>
          <a:noFill/>
        </p:spPr>
        <p:txBody>
          <a:bodyPr wrap="square"/>
          <a:lstStyle/>
          <a:p>
            <a:pPr algn="l">
              <a:defRPr sz="1000" b="0">
                <a:solidFill>
                  <a:srgbClr val="9CA3AF"/>
                </a:solidFill>
                <a:latin typeface="Calibri"/>
              </a:defRPr>
            </a:pPr>
            <a:r>
              <a:t>※ 本スライドはマスターデータです。印刷時は省略可。</a:t>
            </a:r>
          </a:p>
        </p:txBody>
      </p:sp>
      <p:sp>
        <p:nvSpPr>
          <p:cNvPr id="7" name="Rounded Rectangle 6"/>
          <p:cNvSpPr/>
          <p:nvPr/>
        </p:nvSpPr>
        <p:spPr>
          <a:xfrm>
            <a:off x="731520" y="1920240"/>
            <a:ext cx="3383280" cy="4297680"/>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2743200" cy="365760"/>
          </a:xfrm>
          <a:prstGeom prst="rect">
            <a:avLst/>
          </a:prstGeom>
          <a:noFill/>
        </p:spPr>
        <p:txBody>
          <a:bodyPr wrap="square"/>
          <a:lstStyle/>
          <a:p>
            <a:pPr algn="l">
              <a:defRPr sz="1800" b="1">
                <a:solidFill>
                  <a:srgbClr val="111827"/>
                </a:solidFill>
                <a:latin typeface="Calibri"/>
              </a:defRPr>
            </a:pPr>
            <a:r>
              <a:t>ライトプラン</a:t>
            </a:r>
          </a:p>
        </p:txBody>
      </p:sp>
      <p:sp>
        <p:nvSpPr>
          <p:cNvPr id="9" name="TextBox 8"/>
          <p:cNvSpPr txBox="1"/>
          <p:nvPr/>
        </p:nvSpPr>
        <p:spPr>
          <a:xfrm>
            <a:off x="1005840" y="2560320"/>
            <a:ext cx="2743200" cy="274320"/>
          </a:xfrm>
          <a:prstGeom prst="rect">
            <a:avLst/>
          </a:prstGeom>
          <a:noFill/>
        </p:spPr>
        <p:txBody>
          <a:bodyPr wrap="square"/>
          <a:lstStyle/>
          <a:p>
            <a:pPr algn="l">
              <a:defRPr sz="1000" b="0">
                <a:solidFill>
                  <a:srgbClr val="9CA3AF"/>
                </a:solidFill>
                <a:latin typeface="Calibri"/>
              </a:defRPr>
            </a:pPr>
            <a:r>
              <a:t>まずは始めたい方に</a:t>
            </a:r>
          </a:p>
        </p:txBody>
      </p:sp>
      <p:sp>
        <p:nvSpPr>
          <p:cNvPr id="10" name="TextBox 9"/>
          <p:cNvSpPr txBox="1"/>
          <p:nvPr/>
        </p:nvSpPr>
        <p:spPr>
          <a:xfrm>
            <a:off x="1005840" y="3017520"/>
            <a:ext cx="2743200" cy="548640"/>
          </a:xfrm>
          <a:prstGeom prst="rect">
            <a:avLst/>
          </a:prstGeom>
          <a:noFill/>
        </p:spPr>
        <p:txBody>
          <a:bodyPr wrap="square"/>
          <a:lstStyle/>
          <a:p>
            <a:pPr algn="l">
              <a:defRPr sz="2800" b="1">
                <a:solidFill>
                  <a:srgbClr val="111827"/>
                </a:solidFill>
                <a:latin typeface="Calibri"/>
              </a:defRPr>
            </a:pPr>
            <a:r>
              <a:t>10万円/月</a:t>
            </a:r>
          </a:p>
        </p:txBody>
      </p:sp>
      <p:sp>
        <p:nvSpPr>
          <p:cNvPr id="11" name="TextBox 10"/>
          <p:cNvSpPr txBox="1"/>
          <p:nvPr/>
        </p:nvSpPr>
        <p:spPr>
          <a:xfrm>
            <a:off x="1005840" y="3749039"/>
            <a:ext cx="2743200" cy="365760"/>
          </a:xfrm>
          <a:prstGeom prst="rect">
            <a:avLst/>
          </a:prstGeom>
          <a:noFill/>
        </p:spPr>
        <p:txBody>
          <a:bodyPr wrap="square"/>
          <a:lstStyle/>
          <a:p>
            <a:pPr algn="l">
              <a:defRPr sz="1100" b="0">
                <a:solidFill>
                  <a:srgbClr val="4B5563"/>
                </a:solidFill>
                <a:latin typeface="Calibri"/>
              </a:defRPr>
            </a:pPr>
            <a:r>
              <a:t>✓  訪問歯科の基本サポート</a:t>
            </a:r>
          </a:p>
        </p:txBody>
      </p:sp>
      <p:sp>
        <p:nvSpPr>
          <p:cNvPr id="12" name="TextBox 11"/>
          <p:cNvSpPr txBox="1"/>
          <p:nvPr/>
        </p:nvSpPr>
        <p:spPr>
          <a:xfrm>
            <a:off x="1005840" y="4114800"/>
            <a:ext cx="2743200" cy="365760"/>
          </a:xfrm>
          <a:prstGeom prst="rect">
            <a:avLst/>
          </a:prstGeom>
          <a:noFill/>
        </p:spPr>
        <p:txBody>
          <a:bodyPr wrap="square"/>
          <a:lstStyle/>
          <a:p>
            <a:pPr algn="l">
              <a:defRPr sz="1100" b="0">
                <a:solidFill>
                  <a:srgbClr val="4B5563"/>
                </a:solidFill>
                <a:latin typeface="Calibri"/>
              </a:defRPr>
            </a:pPr>
            <a:r>
              <a:t>✓  ARCH独自アプリ使用可能</a:t>
            </a:r>
          </a:p>
        </p:txBody>
      </p:sp>
      <p:sp>
        <p:nvSpPr>
          <p:cNvPr id="13" name="Rounded Rectangle 12"/>
          <p:cNvSpPr/>
          <p:nvPr/>
        </p:nvSpPr>
        <p:spPr>
          <a:xfrm>
            <a:off x="4480559" y="1920240"/>
            <a:ext cx="3383280" cy="4297680"/>
          </a:xfrm>
          <a:prstGeom prst="roundRect">
            <a:avLst/>
          </a:prstGeom>
          <a:solidFill>
            <a:srgbClr val="166534"/>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79" y="2103120"/>
            <a:ext cx="2743200" cy="365760"/>
          </a:xfrm>
          <a:prstGeom prst="rect">
            <a:avLst/>
          </a:prstGeom>
          <a:noFill/>
        </p:spPr>
        <p:txBody>
          <a:bodyPr wrap="square"/>
          <a:lstStyle/>
          <a:p>
            <a:pPr algn="l">
              <a:defRPr sz="1800" b="1">
                <a:solidFill>
                  <a:srgbClr val="FFFFFF"/>
                </a:solidFill>
                <a:latin typeface="Calibri"/>
              </a:defRPr>
            </a:pPr>
            <a:r>
              <a:t>スタンダードプラン</a:t>
            </a:r>
          </a:p>
        </p:txBody>
      </p:sp>
      <p:sp>
        <p:nvSpPr>
          <p:cNvPr id="15" name="TextBox 14"/>
          <p:cNvSpPr txBox="1"/>
          <p:nvPr/>
        </p:nvSpPr>
        <p:spPr>
          <a:xfrm>
            <a:off x="4754879" y="2560320"/>
            <a:ext cx="2743200" cy="274320"/>
          </a:xfrm>
          <a:prstGeom prst="rect">
            <a:avLst/>
          </a:prstGeom>
          <a:noFill/>
        </p:spPr>
        <p:txBody>
          <a:bodyPr wrap="square"/>
          <a:lstStyle/>
          <a:p>
            <a:pPr algn="l">
              <a:defRPr sz="1000" b="0">
                <a:solidFill>
                  <a:srgbClr val="FFFFFF"/>
                </a:solidFill>
                <a:latin typeface="Calibri"/>
              </a:defRPr>
            </a:pPr>
            <a:r>
              <a:t>成長を加速させたい方に（一番人気）</a:t>
            </a:r>
          </a:p>
        </p:txBody>
      </p:sp>
      <p:sp>
        <p:nvSpPr>
          <p:cNvPr id="16" name="TextBox 15"/>
          <p:cNvSpPr txBox="1"/>
          <p:nvPr/>
        </p:nvSpPr>
        <p:spPr>
          <a:xfrm>
            <a:off x="4754879" y="3017520"/>
            <a:ext cx="2743200" cy="548640"/>
          </a:xfrm>
          <a:prstGeom prst="rect">
            <a:avLst/>
          </a:prstGeom>
          <a:noFill/>
        </p:spPr>
        <p:txBody>
          <a:bodyPr wrap="square"/>
          <a:lstStyle/>
          <a:p>
            <a:pPr algn="l">
              <a:defRPr sz="2800" b="1">
                <a:solidFill>
                  <a:srgbClr val="FACC15"/>
                </a:solidFill>
                <a:latin typeface="Calibri"/>
              </a:defRPr>
            </a:pPr>
            <a:r>
              <a:t>30万円/月</a:t>
            </a:r>
          </a:p>
        </p:txBody>
      </p:sp>
      <p:sp>
        <p:nvSpPr>
          <p:cNvPr id="17" name="TextBox 16"/>
          <p:cNvSpPr txBox="1"/>
          <p:nvPr/>
        </p:nvSpPr>
        <p:spPr>
          <a:xfrm>
            <a:off x="4754879" y="3749039"/>
            <a:ext cx="2743200" cy="365760"/>
          </a:xfrm>
          <a:prstGeom prst="rect">
            <a:avLst/>
          </a:prstGeom>
          <a:noFill/>
        </p:spPr>
        <p:txBody>
          <a:bodyPr wrap="square"/>
          <a:lstStyle/>
          <a:p>
            <a:pPr algn="l">
              <a:defRPr sz="1100" b="0">
                <a:solidFill>
                  <a:srgbClr val="FFFFFF"/>
                </a:solidFill>
                <a:latin typeface="Calibri"/>
              </a:defRPr>
            </a:pPr>
            <a:r>
              <a:t>✓  ライトプランの全内容</a:t>
            </a:r>
          </a:p>
        </p:txBody>
      </p:sp>
      <p:sp>
        <p:nvSpPr>
          <p:cNvPr id="18" name="TextBox 17"/>
          <p:cNvSpPr txBox="1"/>
          <p:nvPr/>
        </p:nvSpPr>
        <p:spPr>
          <a:xfrm>
            <a:off x="4754879" y="4114800"/>
            <a:ext cx="2743200" cy="365760"/>
          </a:xfrm>
          <a:prstGeom prst="rect">
            <a:avLst/>
          </a:prstGeom>
          <a:noFill/>
        </p:spPr>
        <p:txBody>
          <a:bodyPr wrap="square"/>
          <a:lstStyle/>
          <a:p>
            <a:pPr algn="l">
              <a:defRPr sz="1100" b="0">
                <a:solidFill>
                  <a:srgbClr val="FFFFFF"/>
                </a:solidFill>
                <a:latin typeface="Calibri"/>
              </a:defRPr>
            </a:pPr>
            <a:r>
              <a:t>✓  月2回 Web/対面ミーティング</a:t>
            </a:r>
          </a:p>
        </p:txBody>
      </p:sp>
      <p:sp>
        <p:nvSpPr>
          <p:cNvPr id="19" name="TextBox 18"/>
          <p:cNvSpPr txBox="1"/>
          <p:nvPr/>
        </p:nvSpPr>
        <p:spPr>
          <a:xfrm>
            <a:off x="4754879" y="4480560"/>
            <a:ext cx="2743200" cy="365760"/>
          </a:xfrm>
          <a:prstGeom prst="rect">
            <a:avLst/>
          </a:prstGeom>
          <a:noFill/>
        </p:spPr>
        <p:txBody>
          <a:bodyPr wrap="square"/>
          <a:lstStyle/>
          <a:p>
            <a:pPr algn="l">
              <a:defRPr sz="1100" b="0">
                <a:solidFill>
                  <a:srgbClr val="FFFFFF"/>
                </a:solidFill>
                <a:latin typeface="Calibri"/>
              </a:defRPr>
            </a:pPr>
            <a:r>
              <a:t>✓  ARCH独自アプリ使用可能</a:t>
            </a:r>
          </a:p>
        </p:txBody>
      </p:sp>
      <p:sp>
        <p:nvSpPr>
          <p:cNvPr id="20" name="Rounded Rectangle 19"/>
          <p:cNvSpPr/>
          <p:nvPr/>
        </p:nvSpPr>
        <p:spPr>
          <a:xfrm>
            <a:off x="8229600" y="1920240"/>
            <a:ext cx="3383280" cy="4297680"/>
          </a:xfrm>
          <a:prstGeom prst="roundRect">
            <a:avLst/>
          </a:prstGeom>
          <a:solidFill>
            <a:srgbClr val="F3F4F6"/>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2103120"/>
            <a:ext cx="2743200" cy="365760"/>
          </a:xfrm>
          <a:prstGeom prst="rect">
            <a:avLst/>
          </a:prstGeom>
          <a:noFill/>
        </p:spPr>
        <p:txBody>
          <a:bodyPr wrap="square"/>
          <a:lstStyle/>
          <a:p>
            <a:pPr algn="l">
              <a:defRPr sz="1800" b="1">
                <a:solidFill>
                  <a:srgbClr val="111827"/>
                </a:solidFill>
                <a:latin typeface="Calibri"/>
              </a:defRPr>
            </a:pPr>
            <a:r>
              <a:t>プレミアムプラン</a:t>
            </a:r>
          </a:p>
        </p:txBody>
      </p:sp>
      <p:sp>
        <p:nvSpPr>
          <p:cNvPr id="22" name="TextBox 21"/>
          <p:cNvSpPr txBox="1"/>
          <p:nvPr/>
        </p:nvSpPr>
        <p:spPr>
          <a:xfrm>
            <a:off x="8503920" y="2560320"/>
            <a:ext cx="2743200" cy="274320"/>
          </a:xfrm>
          <a:prstGeom prst="rect">
            <a:avLst/>
          </a:prstGeom>
          <a:noFill/>
        </p:spPr>
        <p:txBody>
          <a:bodyPr wrap="square"/>
          <a:lstStyle/>
          <a:p>
            <a:pPr algn="l">
              <a:defRPr sz="1000" b="0">
                <a:solidFill>
                  <a:srgbClr val="9CA3AF"/>
                </a:solidFill>
                <a:latin typeface="Calibri"/>
              </a:defRPr>
            </a:pPr>
            <a:r>
              <a:t>圧倒的な成長を実現したい方に</a:t>
            </a:r>
          </a:p>
        </p:txBody>
      </p:sp>
      <p:sp>
        <p:nvSpPr>
          <p:cNvPr id="23" name="TextBox 22"/>
          <p:cNvSpPr txBox="1"/>
          <p:nvPr/>
        </p:nvSpPr>
        <p:spPr>
          <a:xfrm>
            <a:off x="8503920" y="3017520"/>
            <a:ext cx="2743200" cy="548640"/>
          </a:xfrm>
          <a:prstGeom prst="rect">
            <a:avLst/>
          </a:prstGeom>
          <a:noFill/>
        </p:spPr>
        <p:txBody>
          <a:bodyPr wrap="square"/>
          <a:lstStyle/>
          <a:p>
            <a:pPr algn="l">
              <a:defRPr sz="2800" b="1">
                <a:solidFill>
                  <a:srgbClr val="111827"/>
                </a:solidFill>
                <a:latin typeface="Calibri"/>
              </a:defRPr>
            </a:pPr>
            <a:r>
              <a:t>50万円/月</a:t>
            </a:r>
          </a:p>
        </p:txBody>
      </p:sp>
      <p:sp>
        <p:nvSpPr>
          <p:cNvPr id="24" name="TextBox 23"/>
          <p:cNvSpPr txBox="1"/>
          <p:nvPr/>
        </p:nvSpPr>
        <p:spPr>
          <a:xfrm>
            <a:off x="8503920" y="3749039"/>
            <a:ext cx="2743200" cy="365760"/>
          </a:xfrm>
          <a:prstGeom prst="rect">
            <a:avLst/>
          </a:prstGeom>
          <a:noFill/>
        </p:spPr>
        <p:txBody>
          <a:bodyPr wrap="square"/>
          <a:lstStyle/>
          <a:p>
            <a:pPr algn="l">
              <a:defRPr sz="1100" b="0">
                <a:solidFill>
                  <a:srgbClr val="4B5563"/>
                </a:solidFill>
                <a:latin typeface="Calibri"/>
              </a:defRPr>
            </a:pPr>
            <a:r>
              <a:t>✓  スタンダードプランの全内容</a:t>
            </a:r>
          </a:p>
        </p:txBody>
      </p:sp>
      <p:sp>
        <p:nvSpPr>
          <p:cNvPr id="25" name="TextBox 24"/>
          <p:cNvSpPr txBox="1"/>
          <p:nvPr/>
        </p:nvSpPr>
        <p:spPr>
          <a:xfrm>
            <a:off x="8503920" y="4114800"/>
            <a:ext cx="2743200" cy="365760"/>
          </a:xfrm>
          <a:prstGeom prst="rect">
            <a:avLst/>
          </a:prstGeom>
          <a:noFill/>
        </p:spPr>
        <p:txBody>
          <a:bodyPr wrap="square"/>
          <a:lstStyle/>
          <a:p>
            <a:pPr algn="l">
              <a:defRPr sz="1100" b="0">
                <a:solidFill>
                  <a:srgbClr val="4B5563"/>
                </a:solidFill>
                <a:latin typeface="Calibri"/>
              </a:defRPr>
            </a:pPr>
            <a:r>
              <a:t>✓  週1回 Web/対面ミーティング</a:t>
            </a:r>
          </a:p>
        </p:txBody>
      </p:sp>
      <p:sp>
        <p:nvSpPr>
          <p:cNvPr id="26" name="TextBox 25"/>
          <p:cNvSpPr txBox="1"/>
          <p:nvPr/>
        </p:nvSpPr>
        <p:spPr>
          <a:xfrm>
            <a:off x="8503920" y="4480560"/>
            <a:ext cx="2743200" cy="365760"/>
          </a:xfrm>
          <a:prstGeom prst="rect">
            <a:avLst/>
          </a:prstGeom>
          <a:noFill/>
        </p:spPr>
        <p:txBody>
          <a:bodyPr wrap="square"/>
          <a:lstStyle/>
          <a:p>
            <a:pPr algn="l">
              <a:defRPr sz="1100" b="0">
                <a:solidFill>
                  <a:srgbClr val="4B5563"/>
                </a:solidFill>
                <a:latin typeface="Calibri"/>
              </a:defRPr>
            </a:pPr>
            <a:r>
              <a:t>✓  医院オリジナルアプリ開発</a:t>
            </a:r>
          </a:p>
        </p:txBody>
      </p:sp>
      <p:sp>
        <p:nvSpPr>
          <p:cNvPr id="27" name="TextBox 26"/>
          <p:cNvSpPr txBox="1"/>
          <p:nvPr/>
        </p:nvSpPr>
        <p:spPr>
          <a:xfrm>
            <a:off x="731520" y="6309360"/>
            <a:ext cx="10058400" cy="274320"/>
          </a:xfrm>
          <a:prstGeom prst="rect">
            <a:avLst/>
          </a:prstGeom>
          <a:noFill/>
        </p:spPr>
        <p:txBody>
          <a:bodyPr wrap="square"/>
          <a:lstStyle/>
          <a:p>
            <a:pPr algn="l">
              <a:defRPr sz="1000" b="0">
                <a:solidFill>
                  <a:srgbClr val="9CA3AF"/>
                </a:solidFill>
                <a:latin typeface="Calibri"/>
              </a:defRPr>
            </a:pPr>
            <a:r>
              <a:t>※ 料金はすべて税別表示です。詳細はお問い合わせください。</a:t>
            </a:r>
          </a:p>
        </p:txBody>
      </p:sp>
      <p:sp>
        <p:nvSpPr>
          <p:cNvPr id="28" name="Rectangle 27"/>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MESSAGE</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代表メッセージ</a:t>
            </a:r>
          </a:p>
        </p:txBody>
      </p:sp>
      <p:sp>
        <p:nvSpPr>
          <p:cNvPr id="6" name="Rounded Rectangle 5"/>
          <p:cNvSpPr/>
          <p:nvPr/>
        </p:nvSpPr>
        <p:spPr>
          <a:xfrm>
            <a:off x="731520" y="1645920"/>
            <a:ext cx="3200400" cy="41148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200400"/>
            <a:ext cx="2286000" cy="457200"/>
          </a:xfrm>
          <a:prstGeom prst="rect">
            <a:avLst/>
          </a:prstGeom>
          <a:noFill/>
        </p:spPr>
        <p:txBody>
          <a:bodyPr wrap="square"/>
          <a:lstStyle/>
          <a:p>
            <a:pPr algn="ctr">
              <a:defRPr sz="1400" b="0">
                <a:solidFill>
                  <a:srgbClr val="4B5563"/>
                </a:solidFill>
                <a:latin typeface="Calibri"/>
              </a:defRPr>
            </a:pPr>
            <a:r>
              <a:t>[ 代表写真 ]</a:t>
            </a:r>
          </a:p>
        </p:txBody>
      </p:sp>
      <p:sp>
        <p:nvSpPr>
          <p:cNvPr id="8" name="TextBox 7"/>
          <p:cNvSpPr txBox="1"/>
          <p:nvPr/>
        </p:nvSpPr>
        <p:spPr>
          <a:xfrm>
            <a:off x="4572000" y="1645920"/>
            <a:ext cx="6858000" cy="3200400"/>
          </a:xfrm>
          <a:prstGeom prst="rect">
            <a:avLst/>
          </a:prstGeom>
          <a:noFill/>
        </p:spPr>
        <p:txBody>
          <a:bodyPr wrap="square"/>
          <a:lstStyle/>
          <a:p>
            <a:pPr algn="l">
              <a:defRPr sz="1400" b="0">
                <a:solidFill>
                  <a:srgbClr val="374151"/>
                </a:solidFill>
                <a:latin typeface="Calibri"/>
              </a:defRPr>
            </a:pPr>
            <a:r>
              <a:t>私は元小学校教諭です。「目の前の人の成長に寄り添う」──それが私の原点です。</a:t>
            </a:r>
            <a:br/>
            <a:br/>
            <a:r>
              <a:t>訪問歯科の現場に飛び込んで痛感したのは、歯科と介護の間にある「溝」でした。歯科医院は施設の大変さを知らず、施設は訪問歯科に何を求めていいかわからない。</a:t>
            </a:r>
            <a:br/>
            <a:br/>
            <a:r>
              <a:t>ARCHは、その溝を埋めるために存在します。歯科医院を徹底的に指導し、施設様にとって「この歯科が来てくれて助かった」と言っていただける訪問歯科を作る。それが私たちの仕事です。</a:t>
            </a:r>
          </a:p>
        </p:txBody>
      </p:sp>
      <p:sp>
        <p:nvSpPr>
          <p:cNvPr id="9" name="TextBox 8"/>
          <p:cNvSpPr txBox="1"/>
          <p:nvPr/>
        </p:nvSpPr>
        <p:spPr>
          <a:xfrm>
            <a:off x="4572000" y="5029200"/>
            <a:ext cx="2743200" cy="274320"/>
          </a:xfrm>
          <a:prstGeom prst="rect">
            <a:avLst/>
          </a:prstGeom>
          <a:noFill/>
        </p:spPr>
        <p:txBody>
          <a:bodyPr wrap="square"/>
          <a:lstStyle/>
          <a:p>
            <a:pPr algn="l">
              <a:defRPr sz="1100" b="0">
                <a:solidFill>
                  <a:srgbClr val="9CA3AF"/>
                </a:solidFill>
                <a:latin typeface="Calibri"/>
              </a:defRPr>
            </a:pPr>
            <a:r>
              <a:t>合同会社ARCH 代表</a:t>
            </a:r>
          </a:p>
        </p:txBody>
      </p:sp>
      <p:sp>
        <p:nvSpPr>
          <p:cNvPr id="10" name="TextBox 9"/>
          <p:cNvSpPr txBox="1"/>
          <p:nvPr/>
        </p:nvSpPr>
        <p:spPr>
          <a:xfrm>
            <a:off x="4572000" y="5394960"/>
            <a:ext cx="2743200" cy="457200"/>
          </a:xfrm>
          <a:prstGeom prst="rect">
            <a:avLst/>
          </a:prstGeom>
          <a:noFill/>
        </p:spPr>
        <p:txBody>
          <a:bodyPr wrap="square"/>
          <a:lstStyle/>
          <a:p>
            <a:pPr algn="l">
              <a:defRPr sz="2800" b="1">
                <a:solidFill>
                  <a:srgbClr val="111827"/>
                </a:solidFill>
                <a:latin typeface="Calibri"/>
              </a:defRPr>
            </a:pPr>
            <a:r>
              <a:t>鈴木 集</a:t>
            </a:r>
          </a:p>
        </p:txBody>
      </p:sp>
      <p:sp>
        <p:nvSpPr>
          <p:cNvPr id="11" name="TextBox 10"/>
          <p:cNvSpPr txBox="1"/>
          <p:nvPr/>
        </p:nvSpPr>
        <p:spPr>
          <a:xfrm>
            <a:off x="4572000" y="5943600"/>
            <a:ext cx="6400800" cy="457200"/>
          </a:xfrm>
          <a:prstGeom prst="rect">
            <a:avLst/>
          </a:prstGeom>
          <a:noFill/>
        </p:spPr>
        <p:txBody>
          <a:bodyPr wrap="square"/>
          <a:lstStyle/>
          <a:p>
            <a:pPr algn="l">
              <a:defRPr sz="1100" b="0">
                <a:solidFill>
                  <a:srgbClr val="9CA3AF"/>
                </a:solidFill>
                <a:latin typeface="Calibri"/>
              </a:defRPr>
            </a:pPr>
            <a:r>
              <a:t>元小学校教諭 → 訪問歯科業界へ転身 → 合同会社ARCH設立</a:t>
            </a:r>
          </a:p>
        </p:txBody>
      </p:sp>
      <p:sp>
        <p:nvSpPr>
          <p:cNvPr id="12" name="Rectangle 11"/>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365760"/>
          </a:xfrm>
          <a:prstGeom prst="rect">
            <a:avLst/>
          </a:prstGeom>
          <a:noFill/>
        </p:spPr>
        <p:txBody>
          <a:bodyPr wrap="square"/>
          <a:lstStyle/>
          <a:p>
            <a:pPr algn="l">
              <a:defRPr sz="1200" b="1">
                <a:solidFill>
                  <a:srgbClr val="166534"/>
                </a:solidFill>
                <a:latin typeface="Arial Black"/>
              </a:defRPr>
            </a:pPr>
            <a:r>
              <a:t>WHY ARCH</a:t>
            </a:r>
          </a:p>
        </p:txBody>
      </p:sp>
      <p:sp>
        <p:nvSpPr>
          <p:cNvPr id="5" name="TextBox 4"/>
          <p:cNvSpPr txBox="1"/>
          <p:nvPr/>
        </p:nvSpPr>
        <p:spPr>
          <a:xfrm>
            <a:off x="731520" y="731520"/>
            <a:ext cx="10058400" cy="640080"/>
          </a:xfrm>
          <a:prstGeom prst="rect">
            <a:avLst/>
          </a:prstGeom>
          <a:noFill/>
        </p:spPr>
        <p:txBody>
          <a:bodyPr wrap="square"/>
          <a:lstStyle/>
          <a:p>
            <a:pPr algn="l">
              <a:defRPr sz="3600" b="1">
                <a:solidFill>
                  <a:srgbClr val="111827"/>
                </a:solidFill>
                <a:latin typeface="Calibri"/>
              </a:defRPr>
            </a:pPr>
            <a:r>
              <a:t>施設様がARCH支援の歯科医院を選ぶ理由</a:t>
            </a:r>
          </a:p>
        </p:txBody>
      </p:sp>
      <p:sp>
        <p:nvSpPr>
          <p:cNvPr id="6" name="Rounded Rectangle 5"/>
          <p:cNvSpPr/>
          <p:nvPr/>
        </p:nvSpPr>
        <p:spPr>
          <a:xfrm>
            <a:off x="731520" y="1645920"/>
            <a:ext cx="530352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1920240"/>
            <a:ext cx="548640" cy="548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965960"/>
            <a:ext cx="548640" cy="457200"/>
          </a:xfrm>
          <a:prstGeom prst="rect">
            <a:avLst/>
          </a:prstGeom>
          <a:noFill/>
        </p:spPr>
        <p:txBody>
          <a:bodyPr wrap="square"/>
          <a:lstStyle/>
          <a:p>
            <a:pPr algn="ctr">
              <a:defRPr sz="1400" b="1">
                <a:solidFill>
                  <a:srgbClr val="FFFFFF"/>
                </a:solidFill>
                <a:latin typeface="Calibri"/>
              </a:defRPr>
            </a:pPr>
            <a:r>
              <a:t>01</a:t>
            </a:r>
          </a:p>
        </p:txBody>
      </p:sp>
      <p:sp>
        <p:nvSpPr>
          <p:cNvPr id="9" name="TextBox 8"/>
          <p:cNvSpPr txBox="1"/>
          <p:nvPr/>
        </p:nvSpPr>
        <p:spPr>
          <a:xfrm>
            <a:off x="1737360" y="1920240"/>
            <a:ext cx="3840480" cy="731520"/>
          </a:xfrm>
          <a:prstGeom prst="rect">
            <a:avLst/>
          </a:prstGeom>
          <a:noFill/>
        </p:spPr>
        <p:txBody>
          <a:bodyPr wrap="square"/>
          <a:lstStyle/>
          <a:p>
            <a:pPr algn="l">
              <a:defRPr sz="1800" b="1">
                <a:solidFill>
                  <a:srgbClr val="111827"/>
                </a:solidFill>
                <a:latin typeface="Calibri"/>
              </a:defRPr>
            </a:pPr>
            <a:r>
              <a:t>現場主義の</a:t>
            </a:r>
            <a:br/>
            <a:r>
              <a:t>圧倒的ノウハウ</a:t>
            </a:r>
          </a:p>
        </p:txBody>
      </p:sp>
      <p:sp>
        <p:nvSpPr>
          <p:cNvPr id="10" name="TextBox 9"/>
          <p:cNvSpPr txBox="1"/>
          <p:nvPr/>
        </p:nvSpPr>
        <p:spPr>
          <a:xfrm>
            <a:off x="1737360" y="2834640"/>
            <a:ext cx="3840480" cy="640080"/>
          </a:xfrm>
          <a:prstGeom prst="rect">
            <a:avLst/>
          </a:prstGeom>
          <a:noFill/>
        </p:spPr>
        <p:txBody>
          <a:bodyPr wrap="square"/>
          <a:lstStyle/>
          <a:p>
            <a:pPr algn="l">
              <a:defRPr sz="1200" b="0">
                <a:solidFill>
                  <a:srgbClr val="4B5563"/>
                </a:solidFill>
                <a:latin typeface="Calibri"/>
              </a:defRPr>
            </a:pPr>
            <a:r>
              <a:t>実際の施設訪問・介護現場の実情を理解した上での歯科医院指導</a:t>
            </a:r>
          </a:p>
        </p:txBody>
      </p:sp>
      <p:sp>
        <p:nvSpPr>
          <p:cNvPr id="11" name="Rounded Rectangle 10"/>
          <p:cNvSpPr/>
          <p:nvPr/>
        </p:nvSpPr>
        <p:spPr>
          <a:xfrm>
            <a:off x="6400800" y="1645920"/>
            <a:ext cx="530352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75120" y="1920240"/>
            <a:ext cx="548640" cy="548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02552" y="1965960"/>
            <a:ext cx="548640" cy="457200"/>
          </a:xfrm>
          <a:prstGeom prst="rect">
            <a:avLst/>
          </a:prstGeom>
          <a:noFill/>
        </p:spPr>
        <p:txBody>
          <a:bodyPr wrap="square"/>
          <a:lstStyle/>
          <a:p>
            <a:pPr algn="ctr">
              <a:defRPr sz="1400" b="1">
                <a:solidFill>
                  <a:srgbClr val="FFFFFF"/>
                </a:solidFill>
                <a:latin typeface="Calibri"/>
              </a:defRPr>
            </a:pPr>
            <a:r>
              <a:t>02</a:t>
            </a:r>
          </a:p>
        </p:txBody>
      </p:sp>
      <p:sp>
        <p:nvSpPr>
          <p:cNvPr id="14" name="TextBox 13"/>
          <p:cNvSpPr txBox="1"/>
          <p:nvPr/>
        </p:nvSpPr>
        <p:spPr>
          <a:xfrm>
            <a:off x="7406640" y="1920240"/>
            <a:ext cx="3840480" cy="731520"/>
          </a:xfrm>
          <a:prstGeom prst="rect">
            <a:avLst/>
          </a:prstGeom>
          <a:noFill/>
        </p:spPr>
        <p:txBody>
          <a:bodyPr wrap="square"/>
          <a:lstStyle/>
          <a:p>
            <a:pPr algn="l">
              <a:defRPr sz="1800" b="1">
                <a:solidFill>
                  <a:srgbClr val="111827"/>
                </a:solidFill>
                <a:latin typeface="Calibri"/>
              </a:defRPr>
            </a:pPr>
            <a:r>
              <a:t>施設の負担を</a:t>
            </a:r>
            <a:br/>
            <a:r>
              <a:t>徹底的に軽減</a:t>
            </a:r>
          </a:p>
        </p:txBody>
      </p:sp>
      <p:sp>
        <p:nvSpPr>
          <p:cNvPr id="15" name="TextBox 14"/>
          <p:cNvSpPr txBox="1"/>
          <p:nvPr/>
        </p:nvSpPr>
        <p:spPr>
          <a:xfrm>
            <a:off x="7406640" y="2834640"/>
            <a:ext cx="3840480" cy="640080"/>
          </a:xfrm>
          <a:prstGeom prst="rect">
            <a:avLst/>
          </a:prstGeom>
          <a:noFill/>
        </p:spPr>
        <p:txBody>
          <a:bodyPr wrap="square"/>
          <a:lstStyle/>
          <a:p>
            <a:pPr algn="l">
              <a:defRPr sz="1200" b="0">
                <a:solidFill>
                  <a:srgbClr val="4B5563"/>
                </a:solidFill>
                <a:latin typeface="Calibri"/>
              </a:defRPr>
            </a:pPr>
            <a:r>
              <a:t>算定BPOによる書類ゼロ化、口腔ケア指導によるスタッフ支援</a:t>
            </a:r>
          </a:p>
        </p:txBody>
      </p:sp>
      <p:sp>
        <p:nvSpPr>
          <p:cNvPr id="16" name="Rounded Rectangle 15"/>
          <p:cNvSpPr/>
          <p:nvPr/>
        </p:nvSpPr>
        <p:spPr>
          <a:xfrm>
            <a:off x="731520" y="4023360"/>
            <a:ext cx="530352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4297680"/>
            <a:ext cx="548640" cy="548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4343400"/>
            <a:ext cx="548640" cy="457200"/>
          </a:xfrm>
          <a:prstGeom prst="rect">
            <a:avLst/>
          </a:prstGeom>
          <a:noFill/>
        </p:spPr>
        <p:txBody>
          <a:bodyPr wrap="square"/>
          <a:lstStyle/>
          <a:p>
            <a:pPr algn="ctr">
              <a:defRPr sz="1400" b="1">
                <a:solidFill>
                  <a:srgbClr val="FFFFFF"/>
                </a:solidFill>
                <a:latin typeface="Calibri"/>
              </a:defRPr>
            </a:pPr>
            <a:r>
              <a:t>03</a:t>
            </a:r>
          </a:p>
        </p:txBody>
      </p:sp>
      <p:sp>
        <p:nvSpPr>
          <p:cNvPr id="19" name="TextBox 18"/>
          <p:cNvSpPr txBox="1"/>
          <p:nvPr/>
        </p:nvSpPr>
        <p:spPr>
          <a:xfrm>
            <a:off x="1737360" y="4297680"/>
            <a:ext cx="3840480" cy="731520"/>
          </a:xfrm>
          <a:prstGeom prst="rect">
            <a:avLst/>
          </a:prstGeom>
          <a:noFill/>
        </p:spPr>
        <p:txBody>
          <a:bodyPr wrap="square"/>
          <a:lstStyle/>
          <a:p>
            <a:pPr algn="l">
              <a:defRPr sz="1800" b="1">
                <a:solidFill>
                  <a:srgbClr val="111827"/>
                </a:solidFill>
                <a:latin typeface="Calibri"/>
              </a:defRPr>
            </a:pPr>
            <a:r>
              <a:t>独自システムで</a:t>
            </a:r>
            <a:br/>
            <a:r>
              <a:t>安定訪問を保証</a:t>
            </a:r>
          </a:p>
        </p:txBody>
      </p:sp>
      <p:sp>
        <p:nvSpPr>
          <p:cNvPr id="20" name="TextBox 19"/>
          <p:cNvSpPr txBox="1"/>
          <p:nvPr/>
        </p:nvSpPr>
        <p:spPr>
          <a:xfrm>
            <a:off x="1737360" y="5212080"/>
            <a:ext cx="3840480" cy="640080"/>
          </a:xfrm>
          <a:prstGeom prst="rect">
            <a:avLst/>
          </a:prstGeom>
          <a:noFill/>
        </p:spPr>
        <p:txBody>
          <a:bodyPr wrap="square"/>
          <a:lstStyle/>
          <a:p>
            <a:pPr algn="l">
              <a:defRPr sz="1200" b="0">
                <a:solidFill>
                  <a:srgbClr val="4B5563"/>
                </a:solidFill>
                <a:latin typeface="Calibri"/>
              </a:defRPr>
            </a:pPr>
            <a:r>
              <a:t>ARCH専用アプリにより、訪問スケジュール・連絡の抜け漏れを防止</a:t>
            </a:r>
          </a:p>
        </p:txBody>
      </p:sp>
      <p:sp>
        <p:nvSpPr>
          <p:cNvPr id="21" name="Rounded Rectangle 20"/>
          <p:cNvSpPr/>
          <p:nvPr/>
        </p:nvSpPr>
        <p:spPr>
          <a:xfrm>
            <a:off x="6400800" y="4023360"/>
            <a:ext cx="5303520" cy="20116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75120" y="4297680"/>
            <a:ext cx="548640" cy="548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4343400"/>
            <a:ext cx="548640" cy="457200"/>
          </a:xfrm>
          <a:prstGeom prst="rect">
            <a:avLst/>
          </a:prstGeom>
          <a:noFill/>
        </p:spPr>
        <p:txBody>
          <a:bodyPr wrap="square"/>
          <a:lstStyle/>
          <a:p>
            <a:pPr algn="ctr">
              <a:defRPr sz="1400" b="1">
                <a:solidFill>
                  <a:srgbClr val="FFFFFF"/>
                </a:solidFill>
                <a:latin typeface="Calibri"/>
              </a:defRPr>
            </a:pPr>
            <a:r>
              <a:t>04</a:t>
            </a:r>
          </a:p>
        </p:txBody>
      </p:sp>
      <p:sp>
        <p:nvSpPr>
          <p:cNvPr id="24" name="TextBox 23"/>
          <p:cNvSpPr txBox="1"/>
          <p:nvPr/>
        </p:nvSpPr>
        <p:spPr>
          <a:xfrm>
            <a:off x="7406640" y="4297680"/>
            <a:ext cx="3840480" cy="731520"/>
          </a:xfrm>
          <a:prstGeom prst="rect">
            <a:avLst/>
          </a:prstGeom>
          <a:noFill/>
        </p:spPr>
        <p:txBody>
          <a:bodyPr wrap="square"/>
          <a:lstStyle/>
          <a:p>
            <a:pPr algn="l">
              <a:defRPr sz="1800" b="1">
                <a:solidFill>
                  <a:srgbClr val="111827"/>
                </a:solidFill>
                <a:latin typeface="Calibri"/>
              </a:defRPr>
            </a:pPr>
            <a:r>
              <a:t>施設との</a:t>
            </a:r>
            <a:br/>
            <a:r>
              <a:t>密な連携体制</a:t>
            </a:r>
          </a:p>
        </p:txBody>
      </p:sp>
      <p:sp>
        <p:nvSpPr>
          <p:cNvPr id="25" name="TextBox 24"/>
          <p:cNvSpPr txBox="1"/>
          <p:nvPr/>
        </p:nvSpPr>
        <p:spPr>
          <a:xfrm>
            <a:off x="7406640" y="5212080"/>
            <a:ext cx="3840480" cy="640080"/>
          </a:xfrm>
          <a:prstGeom prst="rect">
            <a:avLst/>
          </a:prstGeom>
          <a:noFill/>
        </p:spPr>
        <p:txBody>
          <a:bodyPr wrap="square"/>
          <a:lstStyle/>
          <a:p>
            <a:pPr algn="l">
              <a:defRPr sz="1200" b="0">
                <a:solidFill>
                  <a:srgbClr val="4B5563"/>
                </a:solidFill>
                <a:latin typeface="Calibri"/>
              </a:defRPr>
            </a:pPr>
            <a:r>
              <a:t>定期報告・カンファ参加・緊急対応で施設の安心感を担保</a:t>
            </a:r>
          </a:p>
        </p:txBody>
      </p:sp>
      <p:sp>
        <p:nvSpPr>
          <p:cNvPr id="26" name="Rectangle 25"/>
          <p:cNvSpPr/>
          <p:nvPr/>
        </p:nvSpPr>
        <p:spPr>
          <a:xfrm>
            <a:off x="0" y="6583680"/>
            <a:ext cx="12191695" cy="2743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AC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914400"/>
          </a:xfrm>
          <a:prstGeom prst="rect">
            <a:avLst/>
          </a:prstGeom>
          <a:noFill/>
        </p:spPr>
        <p:txBody>
          <a:bodyPr wrap="square"/>
          <a:lstStyle/>
          <a:p>
            <a:pPr algn="ctr">
              <a:defRPr sz="4000" b="1">
                <a:solidFill>
                  <a:srgbClr val="FFFFFF"/>
                </a:solidFill>
                <a:latin typeface="Calibri"/>
              </a:defRPr>
            </a:pPr>
            <a:r>
              <a:t>本日はお時間をいただき</a:t>
            </a:r>
            <a:br/>
            <a:r>
              <a:t>ありがとうございました</a:t>
            </a:r>
          </a:p>
        </p:txBody>
      </p:sp>
      <p:sp>
        <p:nvSpPr>
          <p:cNvPr id="5" name="TextBox 4"/>
          <p:cNvSpPr txBox="1"/>
          <p:nvPr/>
        </p:nvSpPr>
        <p:spPr>
          <a:xfrm>
            <a:off x="1371600" y="2560320"/>
            <a:ext cx="9418320" cy="914400"/>
          </a:xfrm>
          <a:prstGeom prst="rect">
            <a:avLst/>
          </a:prstGeom>
          <a:noFill/>
        </p:spPr>
        <p:txBody>
          <a:bodyPr wrap="square"/>
          <a:lstStyle/>
          <a:p>
            <a:pPr algn="ctr">
              <a:defRPr sz="1600" b="0">
                <a:solidFill>
                  <a:srgbClr val="BBF7D0"/>
                </a:solidFill>
                <a:latin typeface="Calibri"/>
              </a:defRPr>
            </a:pPr>
            <a:r>
              <a:t>施設の現場課題について、引き続き情報交換させていただければ幸いです。</a:t>
            </a:r>
            <a:br/>
            <a:r>
              <a:t>訪問歯科に関するご質問・ご相談がありましたら、いつでもお気軽にご連絡ください。</a:t>
            </a:r>
          </a:p>
        </p:txBody>
      </p:sp>
      <p:sp>
        <p:nvSpPr>
          <p:cNvPr id="6" name="Rounded Rectangle 5"/>
          <p:cNvSpPr/>
          <p:nvPr/>
        </p:nvSpPr>
        <p:spPr>
          <a:xfrm>
            <a:off x="3200400" y="3840480"/>
            <a:ext cx="5760720" cy="21031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4023360"/>
            <a:ext cx="4846320" cy="365760"/>
          </a:xfrm>
          <a:prstGeom prst="rect">
            <a:avLst/>
          </a:prstGeom>
          <a:noFill/>
        </p:spPr>
        <p:txBody>
          <a:bodyPr wrap="square"/>
          <a:lstStyle/>
          <a:p>
            <a:pPr algn="ctr">
              <a:defRPr sz="1800" b="1">
                <a:solidFill>
                  <a:srgbClr val="111827"/>
                </a:solidFill>
                <a:latin typeface="Calibri"/>
              </a:defRPr>
            </a:pPr>
            <a:r>
              <a:t>合同会社ARCH</a:t>
            </a:r>
          </a:p>
        </p:txBody>
      </p:sp>
      <p:sp>
        <p:nvSpPr>
          <p:cNvPr id="8" name="TextBox 7"/>
          <p:cNvSpPr txBox="1"/>
          <p:nvPr/>
        </p:nvSpPr>
        <p:spPr>
          <a:xfrm>
            <a:off x="3657600" y="4480560"/>
            <a:ext cx="4846320" cy="365760"/>
          </a:xfrm>
          <a:prstGeom prst="rect">
            <a:avLst/>
          </a:prstGeom>
          <a:noFill/>
        </p:spPr>
        <p:txBody>
          <a:bodyPr wrap="square"/>
          <a:lstStyle/>
          <a:p>
            <a:pPr algn="ctr">
              <a:defRPr sz="1400" b="0">
                <a:solidFill>
                  <a:srgbClr val="374151"/>
                </a:solidFill>
                <a:latin typeface="Calibri"/>
              </a:defRPr>
            </a:pPr>
            <a:r>
              <a:t>代表　鈴木 集</a:t>
            </a:r>
          </a:p>
        </p:txBody>
      </p:sp>
      <p:sp>
        <p:nvSpPr>
          <p:cNvPr id="9" name="TextBox 8"/>
          <p:cNvSpPr txBox="1"/>
          <p:nvPr/>
        </p:nvSpPr>
        <p:spPr>
          <a:xfrm>
            <a:off x="3657600" y="4937760"/>
            <a:ext cx="4846320" cy="365760"/>
          </a:xfrm>
          <a:prstGeom prst="rect">
            <a:avLst/>
          </a:prstGeom>
          <a:noFill/>
        </p:spPr>
        <p:txBody>
          <a:bodyPr wrap="square"/>
          <a:lstStyle/>
          <a:p>
            <a:pPr algn="ctr">
              <a:defRPr sz="1300" b="0">
                <a:solidFill>
                  <a:srgbClr val="4B5563"/>
                </a:solidFill>
                <a:latin typeface="Calibri"/>
              </a:defRPr>
            </a:pPr>
            <a:r>
              <a:t>URL: https://www.arch-yh.com</a:t>
            </a:r>
          </a:p>
        </p:txBody>
      </p:sp>
      <p:sp>
        <p:nvSpPr>
          <p:cNvPr id="10" name="TextBox 9"/>
          <p:cNvSpPr txBox="1"/>
          <p:nvPr/>
        </p:nvSpPr>
        <p:spPr>
          <a:xfrm>
            <a:off x="3657600" y="5303520"/>
            <a:ext cx="4846320" cy="365760"/>
          </a:xfrm>
          <a:prstGeom prst="rect">
            <a:avLst/>
          </a:prstGeom>
          <a:noFill/>
        </p:spPr>
        <p:txBody>
          <a:bodyPr wrap="square"/>
          <a:lstStyle/>
          <a:p>
            <a:pPr algn="ctr">
              <a:defRPr sz="1300" b="0">
                <a:solidFill>
                  <a:srgbClr val="4B5563"/>
                </a:solidFill>
                <a:latin typeface="Calibri"/>
              </a:defRPr>
            </a:pPr>
            <a:r>
              <a:t>Email: [ メールアドレスを入力 ]</a:t>
            </a:r>
          </a:p>
        </p:txBody>
      </p:sp>
      <p:sp>
        <p:nvSpPr>
          <p:cNvPr id="11" name="TextBox 10"/>
          <p:cNvSpPr txBox="1"/>
          <p:nvPr/>
        </p:nvSpPr>
        <p:spPr>
          <a:xfrm>
            <a:off x="3657600" y="5669280"/>
            <a:ext cx="4846320" cy="365760"/>
          </a:xfrm>
          <a:prstGeom prst="rect">
            <a:avLst/>
          </a:prstGeom>
          <a:noFill/>
        </p:spPr>
        <p:txBody>
          <a:bodyPr wrap="square"/>
          <a:lstStyle/>
          <a:p>
            <a:pPr algn="ctr">
              <a:defRPr sz="1300" b="0">
                <a:solidFill>
                  <a:srgbClr val="4B5563"/>
                </a:solidFill>
                <a:latin typeface="Calibri"/>
              </a:defRPr>
            </a:pPr>
            <a:r>
              <a:t>TEL: [ 電話番号を入力 ]</a:t>
            </a:r>
          </a:p>
        </p:txBody>
      </p:sp>
      <p:sp>
        <p:nvSpPr>
          <p:cNvPr id="12" name="TextBox 11"/>
          <p:cNvSpPr txBox="1"/>
          <p:nvPr/>
        </p:nvSpPr>
        <p:spPr>
          <a:xfrm>
            <a:off x="731520" y="6400800"/>
            <a:ext cx="10698480" cy="274320"/>
          </a:xfrm>
          <a:prstGeom prst="rect">
            <a:avLst/>
          </a:prstGeom>
          <a:noFill/>
        </p:spPr>
        <p:txBody>
          <a:bodyPr wrap="square"/>
          <a:lstStyle/>
          <a:p>
            <a:pPr algn="ctr">
              <a:defRPr sz="1000" b="0">
                <a:solidFill>
                  <a:srgbClr val="6EE7B7"/>
                </a:solidFill>
                <a:latin typeface="Calibri"/>
              </a:defRPr>
            </a:pPr>
            <a:r>
              <a:t>© 合同会社ARCH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